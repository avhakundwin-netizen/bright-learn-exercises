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22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869680" y="-1645920"/>
            <a:ext cx="5486400" cy="5486400"/>
          </a:xfrm>
          <a:prstGeom prst="ellipse">
            <a:avLst/>
          </a:prstGeom>
          <a:solidFill>
            <a:srgbClr val="142238"/>
          </a:solidFill>
          <a:ln/>
        </p:spPr>
      </p:sp>
      <p:sp>
        <p:nvSpPr>
          <p:cNvPr id="3" name="Shape 1"/>
          <p:cNvSpPr/>
          <p:nvPr/>
        </p:nvSpPr>
        <p:spPr>
          <a:xfrm>
            <a:off x="-2011680" y="4206240"/>
            <a:ext cx="4754880" cy="4754880"/>
          </a:xfrm>
          <a:prstGeom prst="ellipse">
            <a:avLst/>
          </a:prstGeom>
          <a:solidFill>
            <a:srgbClr val="10192B"/>
          </a:solidFill>
          <a:ln/>
        </p:spPr>
      </p:sp>
      <p:sp>
        <p:nvSpPr>
          <p:cNvPr id="4" name="Text 2"/>
          <p:cNvSpPr/>
          <p:nvPr/>
        </p:nvSpPr>
        <p:spPr>
          <a:xfrm>
            <a:off x="822960" y="1965960"/>
            <a:ext cx="7315200" cy="457200"/>
          </a:xfrm>
          <a:prstGeom prst="rect">
            <a:avLst/>
          </a:prstGeom>
          <a:noFill/>
          <a:ln/>
        </p:spPr>
        <p:txBody>
          <a:bodyPr wrap="square" lIns="0" tIns="0" rIns="0" bIns="0" rtlCol="0" anchor="ctr"/>
          <a:lstStyle/>
          <a:p>
            <a:pPr indent="0" marL="0">
              <a:buNone/>
            </a:pPr>
            <a:r>
              <a:rPr lang="en-US" sz="1500" b="1" spc="300" kern="0" dirty="0">
                <a:solidFill>
                  <a:srgbClr val="2FB3D6"/>
                </a:solidFill>
                <a:latin typeface="Calibri" pitchFamily="34" charset="0"/>
                <a:ea typeface="Calibri" pitchFamily="34" charset="-122"/>
                <a:cs typeface="Calibri" pitchFamily="34" charset="-120"/>
              </a:rPr>
              <a:t>BRIGHTTV</a:t>
            </a:r>
            <a:endParaRPr lang="en-US" sz="1500" dirty="0"/>
          </a:p>
        </p:txBody>
      </p:sp>
      <p:sp>
        <p:nvSpPr>
          <p:cNvPr id="5" name="Text 3"/>
          <p:cNvSpPr/>
          <p:nvPr/>
        </p:nvSpPr>
        <p:spPr>
          <a:xfrm>
            <a:off x="777240" y="2377440"/>
            <a:ext cx="10241280" cy="1188720"/>
          </a:xfrm>
          <a:prstGeom prst="rect">
            <a:avLst/>
          </a:prstGeom>
          <a:noFill/>
          <a:ln/>
        </p:spPr>
        <p:txBody>
          <a:bodyPr wrap="square" lIns="0" tIns="0" rIns="0" bIns="0" rtlCol="0" anchor="ctr"/>
          <a:lstStyle/>
          <a:p>
            <a:pPr indent="0" marL="0">
              <a:buNone/>
            </a:pPr>
            <a:r>
              <a:rPr lang="en-US" sz="4400" b="1" dirty="0">
                <a:solidFill>
                  <a:srgbClr val="F5F7FA"/>
                </a:solidFill>
                <a:latin typeface="Cambria" pitchFamily="34" charset="0"/>
                <a:ea typeface="Cambria" pitchFamily="34" charset="-122"/>
                <a:cs typeface="Cambria" pitchFamily="34" charset="-120"/>
              </a:rPr>
              <a:t>Growing Our Subscriber Base</a:t>
            </a:r>
            <a:endParaRPr lang="en-US" sz="4400" dirty="0"/>
          </a:p>
        </p:txBody>
      </p:sp>
      <p:sp>
        <p:nvSpPr>
          <p:cNvPr id="6" name="Text 4"/>
          <p:cNvSpPr/>
          <p:nvPr/>
        </p:nvSpPr>
        <p:spPr>
          <a:xfrm>
            <a:off x="822960" y="3337560"/>
            <a:ext cx="9601200" cy="502920"/>
          </a:xfrm>
          <a:prstGeom prst="rect">
            <a:avLst/>
          </a:prstGeom>
          <a:noFill/>
          <a:ln/>
        </p:spPr>
        <p:txBody>
          <a:bodyPr wrap="square" lIns="0" tIns="0" rIns="0" bIns="0" rtlCol="0" anchor="ctr"/>
          <a:lstStyle/>
          <a:p>
            <a:pPr indent="0" marL="0">
              <a:buNone/>
            </a:pPr>
            <a:r>
              <a:rPr lang="en-US" sz="1600" i="1" dirty="0">
                <a:solidFill>
                  <a:srgbClr val="9AAEC7"/>
                </a:solidFill>
                <a:latin typeface="Calibri" pitchFamily="34" charset="0"/>
                <a:ea typeface="Calibri" pitchFamily="34" charset="-122"/>
                <a:cs typeface="Calibri" pitchFamily="34" charset="-120"/>
              </a:rPr>
              <a:t>Data-driven insights for the CVM team, FY objective</a:t>
            </a:r>
            <a:endParaRPr lang="en-US" sz="1600" dirty="0"/>
          </a:p>
        </p:txBody>
      </p:sp>
      <p:sp>
        <p:nvSpPr>
          <p:cNvPr id="7" name="Shape 5"/>
          <p:cNvSpPr/>
          <p:nvPr/>
        </p:nvSpPr>
        <p:spPr>
          <a:xfrm>
            <a:off x="822960" y="3977640"/>
            <a:ext cx="2011680" cy="0"/>
          </a:xfrm>
          <a:prstGeom prst="line">
            <a:avLst/>
          </a:prstGeom>
          <a:noFill/>
          <a:ln w="31750">
            <a:solidFill>
              <a:srgbClr val="F2C14E"/>
            </a:solidFill>
            <a:prstDash val="solid"/>
          </a:ln>
        </p:spPr>
      </p:sp>
      <p:sp>
        <p:nvSpPr>
          <p:cNvPr id="8" name="Text 6"/>
          <p:cNvSpPr/>
          <p:nvPr/>
        </p:nvSpPr>
        <p:spPr>
          <a:xfrm>
            <a:off x="822960" y="5806440"/>
            <a:ext cx="3657600" cy="365760"/>
          </a:xfrm>
          <a:prstGeom prst="rect">
            <a:avLst/>
          </a:prstGeom>
          <a:noFill/>
          <a:ln/>
        </p:spPr>
        <p:txBody>
          <a:bodyPr wrap="square" lIns="0" tIns="0" rIns="0" bIns="0"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23 August 2026</a:t>
            </a:r>
            <a:endParaRPr lang="en-US" sz="1300" dirty="0"/>
          </a:p>
        </p:txBody>
      </p:sp>
      <p:sp>
        <p:nvSpPr>
          <p:cNvPr id="9" name="Text 7"/>
          <p:cNvSpPr/>
          <p:nvPr/>
        </p:nvSpPr>
        <p:spPr>
          <a:xfrm>
            <a:off x="822960" y="6108192"/>
            <a:ext cx="3657600" cy="365760"/>
          </a:xfrm>
          <a:prstGeom prst="rect">
            <a:avLst/>
          </a:prstGeom>
          <a:noFill/>
          <a:ln/>
        </p:spPr>
        <p:txBody>
          <a:bodyPr wrap="square" lIns="0" tIns="0" rIns="0" bIns="0" rtlCol="0" anchor="ctr"/>
          <a:lstStyle/>
          <a:p>
            <a:pPr indent="0" marL="0">
              <a:buNone/>
            </a:pPr>
            <a:r>
              <a:rPr lang="en-US" sz="1200" dirty="0">
                <a:solidFill>
                  <a:srgbClr val="9AAEC7"/>
                </a:solidFill>
                <a:latin typeface="Calibri" pitchFamily="34" charset="0"/>
                <a:ea typeface="Calibri" pitchFamily="34" charset="-122"/>
                <a:cs typeface="Calibri" pitchFamily="34" charset="-120"/>
              </a:rPr>
              <a:t>Prepared by Ndadza 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2FB3D6"/>
                </a:solidFill>
                <a:latin typeface="Calibri" pitchFamily="34" charset="0"/>
                <a:ea typeface="Calibri" pitchFamily="34" charset="-122"/>
                <a:cs typeface="Calibri" pitchFamily="34" charset="-120"/>
              </a:rPr>
              <a:t>TABLE OF CONTENTS</a:t>
            </a:r>
            <a:endParaRPr lang="en-US" sz="125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Agenda</a:t>
            </a:r>
            <a:endParaRPr lang="en-US" sz="3000" dirty="0"/>
          </a:p>
        </p:txBody>
      </p:sp>
      <p:sp>
        <p:nvSpPr>
          <p:cNvPr id="4" name="Shape 2"/>
          <p:cNvSpPr/>
          <p:nvPr/>
        </p:nvSpPr>
        <p:spPr>
          <a:xfrm>
            <a:off x="548640" y="1737360"/>
            <a:ext cx="11064240" cy="749808"/>
          </a:xfrm>
          <a:prstGeom prst="roundRect">
            <a:avLst>
              <a:gd name="adj" fmla="val 7317"/>
            </a:avLst>
          </a:prstGeom>
          <a:solidFill>
            <a:srgbClr val="141C2E"/>
          </a:solidFill>
          <a:ln w="12700">
            <a:solidFill>
              <a:srgbClr val="26314A"/>
            </a:solidFill>
            <a:prstDash val="solid"/>
          </a:ln>
        </p:spPr>
      </p:sp>
      <p:sp>
        <p:nvSpPr>
          <p:cNvPr id="5" name="Text 3"/>
          <p:cNvSpPr/>
          <p:nvPr/>
        </p:nvSpPr>
        <p:spPr>
          <a:xfrm>
            <a:off x="822960" y="1737360"/>
            <a:ext cx="914400" cy="749808"/>
          </a:xfrm>
          <a:prstGeom prst="rect">
            <a:avLst/>
          </a:prstGeom>
          <a:noFill/>
          <a:ln/>
        </p:spPr>
        <p:txBody>
          <a:bodyPr wrap="square" lIns="0" tIns="0" rIns="0" bIns="0" rtlCol="0" anchor="ctr"/>
          <a:lstStyle/>
          <a:p>
            <a:pPr indent="0" marL="0">
              <a:buNone/>
            </a:pPr>
            <a:r>
              <a:rPr lang="en-US" sz="2400" b="1" dirty="0">
                <a:solidFill>
                  <a:srgbClr val="F2C14E"/>
                </a:solidFill>
                <a:latin typeface="Cambria" pitchFamily="34" charset="0"/>
                <a:ea typeface="Cambria" pitchFamily="34" charset="-122"/>
                <a:cs typeface="Cambria" pitchFamily="34" charset="-120"/>
              </a:rPr>
              <a:t>01</a:t>
            </a:r>
            <a:endParaRPr lang="en-US" sz="2400" dirty="0"/>
          </a:p>
        </p:txBody>
      </p:sp>
      <p:sp>
        <p:nvSpPr>
          <p:cNvPr id="6" name="Text 4"/>
          <p:cNvSpPr/>
          <p:nvPr/>
        </p:nvSpPr>
        <p:spPr>
          <a:xfrm>
            <a:off x="1874520" y="1810512"/>
            <a:ext cx="4937760" cy="365760"/>
          </a:xfrm>
          <a:prstGeom prst="rect">
            <a:avLst/>
          </a:prstGeom>
          <a:noFill/>
          <a:ln/>
        </p:spPr>
        <p:txBody>
          <a:bodyPr wrap="square" lIns="0" tIns="0" rIns="0" bIns="0" rtlCol="0" anchor="ctr"/>
          <a:lstStyle/>
          <a:p>
            <a:pPr indent="0" marL="0">
              <a:buNone/>
            </a:pPr>
            <a:r>
              <a:rPr lang="en-US" sz="1550" b="1" dirty="0">
                <a:solidFill>
                  <a:srgbClr val="F5F7FA"/>
                </a:solidFill>
                <a:latin typeface="Calibri" pitchFamily="34" charset="0"/>
                <a:ea typeface="Calibri" pitchFamily="34" charset="-122"/>
                <a:cs typeface="Calibri" pitchFamily="34" charset="-120"/>
              </a:rPr>
              <a:t>User &amp; Usage Trends</a:t>
            </a:r>
            <a:endParaRPr lang="en-US" sz="1550" dirty="0"/>
          </a:p>
        </p:txBody>
      </p:sp>
      <p:sp>
        <p:nvSpPr>
          <p:cNvPr id="7" name="Text 5"/>
          <p:cNvSpPr/>
          <p:nvPr/>
        </p:nvSpPr>
        <p:spPr>
          <a:xfrm>
            <a:off x="6903720" y="1737360"/>
            <a:ext cx="4480560" cy="749808"/>
          </a:xfrm>
          <a:prstGeom prst="rect">
            <a:avLst/>
          </a:prstGeom>
          <a:noFill/>
          <a:ln/>
        </p:spPr>
        <p:txBody>
          <a:bodyPr wrap="square" lIns="0" tIns="0" rIns="0" bIns="0" rtlCol="0" anchor="ctr"/>
          <a:lstStyle/>
          <a:p>
            <a:pPr indent="0" marL="0">
              <a:buNone/>
            </a:pPr>
            <a:r>
              <a:rPr lang="en-US" sz="1150" dirty="0">
                <a:solidFill>
                  <a:srgbClr val="9AAEC7"/>
                </a:solidFill>
                <a:latin typeface="Calibri" pitchFamily="34" charset="0"/>
                <a:ea typeface="Calibri" pitchFamily="34" charset="-122"/>
                <a:cs typeface="Calibri" pitchFamily="34" charset="-120"/>
              </a:rPr>
              <a:t>How BrightTV's user base and session activity evolved this quarter</a:t>
            </a:r>
            <a:endParaRPr lang="en-US" sz="1150" dirty="0"/>
          </a:p>
        </p:txBody>
      </p:sp>
      <p:sp>
        <p:nvSpPr>
          <p:cNvPr id="8" name="Shape 6"/>
          <p:cNvSpPr/>
          <p:nvPr/>
        </p:nvSpPr>
        <p:spPr>
          <a:xfrm>
            <a:off x="548640" y="2651760"/>
            <a:ext cx="11064240" cy="749808"/>
          </a:xfrm>
          <a:prstGeom prst="roundRect">
            <a:avLst>
              <a:gd name="adj" fmla="val 7317"/>
            </a:avLst>
          </a:prstGeom>
          <a:solidFill>
            <a:srgbClr val="1B2540"/>
          </a:solidFill>
          <a:ln w="12700">
            <a:solidFill>
              <a:srgbClr val="26314A"/>
            </a:solidFill>
            <a:prstDash val="solid"/>
          </a:ln>
        </p:spPr>
      </p:sp>
      <p:sp>
        <p:nvSpPr>
          <p:cNvPr id="9" name="Text 7"/>
          <p:cNvSpPr/>
          <p:nvPr/>
        </p:nvSpPr>
        <p:spPr>
          <a:xfrm>
            <a:off x="822960" y="2651760"/>
            <a:ext cx="914400" cy="749808"/>
          </a:xfrm>
          <a:prstGeom prst="rect">
            <a:avLst/>
          </a:prstGeom>
          <a:noFill/>
          <a:ln/>
        </p:spPr>
        <p:txBody>
          <a:bodyPr wrap="square" lIns="0" tIns="0" rIns="0" bIns="0" rtlCol="0" anchor="ctr"/>
          <a:lstStyle/>
          <a:p>
            <a:pPr indent="0" marL="0">
              <a:buNone/>
            </a:pPr>
            <a:r>
              <a:rPr lang="en-US" sz="2400" b="1" dirty="0">
                <a:solidFill>
                  <a:srgbClr val="F2C14E"/>
                </a:solidFill>
                <a:latin typeface="Cambria" pitchFamily="34" charset="0"/>
                <a:ea typeface="Cambria" pitchFamily="34" charset="-122"/>
                <a:cs typeface="Cambria" pitchFamily="34" charset="-120"/>
              </a:rPr>
              <a:t>02</a:t>
            </a:r>
            <a:endParaRPr lang="en-US" sz="2400" dirty="0"/>
          </a:p>
        </p:txBody>
      </p:sp>
      <p:sp>
        <p:nvSpPr>
          <p:cNvPr id="10" name="Text 8"/>
          <p:cNvSpPr/>
          <p:nvPr/>
        </p:nvSpPr>
        <p:spPr>
          <a:xfrm>
            <a:off x="1874520" y="2724912"/>
            <a:ext cx="4937760" cy="365760"/>
          </a:xfrm>
          <a:prstGeom prst="rect">
            <a:avLst/>
          </a:prstGeom>
          <a:noFill/>
          <a:ln/>
        </p:spPr>
        <p:txBody>
          <a:bodyPr wrap="square" lIns="0" tIns="0" rIns="0" bIns="0" rtlCol="0" anchor="ctr"/>
          <a:lstStyle/>
          <a:p>
            <a:pPr indent="0" marL="0">
              <a:buNone/>
            </a:pPr>
            <a:r>
              <a:rPr lang="en-US" sz="1550" b="1" dirty="0">
                <a:solidFill>
                  <a:srgbClr val="F5F7FA"/>
                </a:solidFill>
                <a:latin typeface="Calibri" pitchFamily="34" charset="0"/>
                <a:ea typeface="Calibri" pitchFamily="34" charset="-122"/>
                <a:cs typeface="Calibri" pitchFamily="34" charset="-120"/>
              </a:rPr>
              <a:t>What Drives Consumption</a:t>
            </a:r>
            <a:endParaRPr lang="en-US" sz="1550" dirty="0"/>
          </a:p>
        </p:txBody>
      </p:sp>
      <p:sp>
        <p:nvSpPr>
          <p:cNvPr id="11" name="Text 9"/>
          <p:cNvSpPr/>
          <p:nvPr/>
        </p:nvSpPr>
        <p:spPr>
          <a:xfrm>
            <a:off x="6903720" y="2651760"/>
            <a:ext cx="4480560" cy="749808"/>
          </a:xfrm>
          <a:prstGeom prst="rect">
            <a:avLst/>
          </a:prstGeom>
          <a:noFill/>
          <a:ln/>
        </p:spPr>
        <p:txBody>
          <a:bodyPr wrap="square" lIns="0" tIns="0" rIns="0" bIns="0" rtlCol="0" anchor="ctr"/>
          <a:lstStyle/>
          <a:p>
            <a:pPr indent="0" marL="0">
              <a:buNone/>
            </a:pPr>
            <a:r>
              <a:rPr lang="en-US" sz="1150" dirty="0">
                <a:solidFill>
                  <a:srgbClr val="9AAEC7"/>
                </a:solidFill>
                <a:latin typeface="Calibri" pitchFamily="34" charset="0"/>
                <a:ea typeface="Calibri" pitchFamily="34" charset="-122"/>
                <a:cs typeface="Calibri" pitchFamily="34" charset="-120"/>
              </a:rPr>
              <a:t>The behavioural, content and audience factors behind viewing patterns</a:t>
            </a:r>
            <a:endParaRPr lang="en-US" sz="1150" dirty="0"/>
          </a:p>
        </p:txBody>
      </p:sp>
      <p:sp>
        <p:nvSpPr>
          <p:cNvPr id="12" name="Shape 10"/>
          <p:cNvSpPr/>
          <p:nvPr/>
        </p:nvSpPr>
        <p:spPr>
          <a:xfrm>
            <a:off x="548640" y="3566160"/>
            <a:ext cx="11064240" cy="749808"/>
          </a:xfrm>
          <a:prstGeom prst="roundRect">
            <a:avLst>
              <a:gd name="adj" fmla="val 7317"/>
            </a:avLst>
          </a:prstGeom>
          <a:solidFill>
            <a:srgbClr val="141C2E"/>
          </a:solidFill>
          <a:ln w="12700">
            <a:solidFill>
              <a:srgbClr val="26314A"/>
            </a:solidFill>
            <a:prstDash val="solid"/>
          </a:ln>
        </p:spPr>
      </p:sp>
      <p:sp>
        <p:nvSpPr>
          <p:cNvPr id="13" name="Text 11"/>
          <p:cNvSpPr/>
          <p:nvPr/>
        </p:nvSpPr>
        <p:spPr>
          <a:xfrm>
            <a:off x="822960" y="3566160"/>
            <a:ext cx="914400" cy="749808"/>
          </a:xfrm>
          <a:prstGeom prst="rect">
            <a:avLst/>
          </a:prstGeom>
          <a:noFill/>
          <a:ln/>
        </p:spPr>
        <p:txBody>
          <a:bodyPr wrap="square" lIns="0" tIns="0" rIns="0" bIns="0" rtlCol="0" anchor="ctr"/>
          <a:lstStyle/>
          <a:p>
            <a:pPr indent="0" marL="0">
              <a:buNone/>
            </a:pPr>
            <a:r>
              <a:rPr lang="en-US" sz="2400" b="1" dirty="0">
                <a:solidFill>
                  <a:srgbClr val="F2C14E"/>
                </a:solidFill>
                <a:latin typeface="Cambria" pitchFamily="34" charset="0"/>
                <a:ea typeface="Cambria" pitchFamily="34" charset="-122"/>
                <a:cs typeface="Cambria" pitchFamily="34" charset="-120"/>
              </a:rPr>
              <a:t>03</a:t>
            </a:r>
            <a:endParaRPr lang="en-US" sz="2400" dirty="0"/>
          </a:p>
        </p:txBody>
      </p:sp>
      <p:sp>
        <p:nvSpPr>
          <p:cNvPr id="14" name="Text 12"/>
          <p:cNvSpPr/>
          <p:nvPr/>
        </p:nvSpPr>
        <p:spPr>
          <a:xfrm>
            <a:off x="1874520" y="3639312"/>
            <a:ext cx="4937760" cy="365760"/>
          </a:xfrm>
          <a:prstGeom prst="rect">
            <a:avLst/>
          </a:prstGeom>
          <a:noFill/>
          <a:ln/>
        </p:spPr>
        <p:txBody>
          <a:bodyPr wrap="square" lIns="0" tIns="0" rIns="0" bIns="0" rtlCol="0" anchor="ctr"/>
          <a:lstStyle/>
          <a:p>
            <a:pPr indent="0" marL="0">
              <a:buNone/>
            </a:pPr>
            <a:r>
              <a:rPr lang="en-US" sz="1550" b="1" dirty="0">
                <a:solidFill>
                  <a:srgbClr val="F5F7FA"/>
                </a:solidFill>
                <a:latin typeface="Calibri" pitchFamily="34" charset="0"/>
                <a:ea typeface="Calibri" pitchFamily="34" charset="-122"/>
                <a:cs typeface="Calibri" pitchFamily="34" charset="-120"/>
              </a:rPr>
              <a:t>Fixing the Low Days</a:t>
            </a:r>
            <a:endParaRPr lang="en-US" sz="1550" dirty="0"/>
          </a:p>
        </p:txBody>
      </p:sp>
      <p:sp>
        <p:nvSpPr>
          <p:cNvPr id="15" name="Text 13"/>
          <p:cNvSpPr/>
          <p:nvPr/>
        </p:nvSpPr>
        <p:spPr>
          <a:xfrm>
            <a:off x="6903720" y="3566160"/>
            <a:ext cx="4480560" cy="749808"/>
          </a:xfrm>
          <a:prstGeom prst="rect">
            <a:avLst/>
          </a:prstGeom>
          <a:noFill/>
          <a:ln/>
        </p:spPr>
        <p:txBody>
          <a:bodyPr wrap="square" lIns="0" tIns="0" rIns="0" bIns="0" rtlCol="0" anchor="ctr"/>
          <a:lstStyle/>
          <a:p>
            <a:pPr indent="0" marL="0">
              <a:buNone/>
            </a:pPr>
            <a:r>
              <a:rPr lang="en-US" sz="1150" dirty="0">
                <a:solidFill>
                  <a:srgbClr val="9AAEC7"/>
                </a:solidFill>
                <a:latin typeface="Calibri" pitchFamily="34" charset="0"/>
                <a:ea typeface="Calibri" pitchFamily="34" charset="-122"/>
                <a:cs typeface="Calibri" pitchFamily="34" charset="-120"/>
              </a:rPr>
              <a:t>Content recommendations to lift consumption on quiet days</a:t>
            </a:r>
            <a:endParaRPr lang="en-US" sz="1150" dirty="0"/>
          </a:p>
        </p:txBody>
      </p:sp>
      <p:sp>
        <p:nvSpPr>
          <p:cNvPr id="16" name="Shape 14"/>
          <p:cNvSpPr/>
          <p:nvPr/>
        </p:nvSpPr>
        <p:spPr>
          <a:xfrm>
            <a:off x="548640" y="4480560"/>
            <a:ext cx="11064240" cy="749808"/>
          </a:xfrm>
          <a:prstGeom prst="roundRect">
            <a:avLst>
              <a:gd name="adj" fmla="val 7317"/>
            </a:avLst>
          </a:prstGeom>
          <a:solidFill>
            <a:srgbClr val="1B2540"/>
          </a:solidFill>
          <a:ln w="12700">
            <a:solidFill>
              <a:srgbClr val="26314A"/>
            </a:solidFill>
            <a:prstDash val="solid"/>
          </a:ln>
        </p:spPr>
      </p:sp>
      <p:sp>
        <p:nvSpPr>
          <p:cNvPr id="17" name="Text 15"/>
          <p:cNvSpPr/>
          <p:nvPr/>
        </p:nvSpPr>
        <p:spPr>
          <a:xfrm>
            <a:off x="822960" y="4480560"/>
            <a:ext cx="914400" cy="749808"/>
          </a:xfrm>
          <a:prstGeom prst="rect">
            <a:avLst/>
          </a:prstGeom>
          <a:noFill/>
          <a:ln/>
        </p:spPr>
        <p:txBody>
          <a:bodyPr wrap="square" lIns="0" tIns="0" rIns="0" bIns="0" rtlCol="0" anchor="ctr"/>
          <a:lstStyle/>
          <a:p>
            <a:pPr indent="0" marL="0">
              <a:buNone/>
            </a:pPr>
            <a:r>
              <a:rPr lang="en-US" sz="2400" b="1" dirty="0">
                <a:solidFill>
                  <a:srgbClr val="F2C14E"/>
                </a:solidFill>
                <a:latin typeface="Cambria" pitchFamily="34" charset="0"/>
                <a:ea typeface="Cambria" pitchFamily="34" charset="-122"/>
                <a:cs typeface="Cambria" pitchFamily="34" charset="-120"/>
              </a:rPr>
              <a:t>04</a:t>
            </a:r>
            <a:endParaRPr lang="en-US" sz="2400" dirty="0"/>
          </a:p>
        </p:txBody>
      </p:sp>
      <p:sp>
        <p:nvSpPr>
          <p:cNvPr id="18" name="Text 16"/>
          <p:cNvSpPr/>
          <p:nvPr/>
        </p:nvSpPr>
        <p:spPr>
          <a:xfrm>
            <a:off x="1874520" y="4553712"/>
            <a:ext cx="4937760" cy="365760"/>
          </a:xfrm>
          <a:prstGeom prst="rect">
            <a:avLst/>
          </a:prstGeom>
          <a:noFill/>
          <a:ln/>
        </p:spPr>
        <p:txBody>
          <a:bodyPr wrap="square" lIns="0" tIns="0" rIns="0" bIns="0" rtlCol="0" anchor="ctr"/>
          <a:lstStyle/>
          <a:p>
            <a:pPr indent="0" marL="0">
              <a:buNone/>
            </a:pPr>
            <a:r>
              <a:rPr lang="en-US" sz="1550" b="1" dirty="0">
                <a:solidFill>
                  <a:srgbClr val="F5F7FA"/>
                </a:solidFill>
                <a:latin typeface="Calibri" pitchFamily="34" charset="0"/>
                <a:ea typeface="Calibri" pitchFamily="34" charset="-122"/>
                <a:cs typeface="Calibri" pitchFamily="34" charset="-120"/>
              </a:rPr>
              <a:t>Growth Initiatives</a:t>
            </a:r>
            <a:endParaRPr lang="en-US" sz="1550" dirty="0"/>
          </a:p>
        </p:txBody>
      </p:sp>
      <p:sp>
        <p:nvSpPr>
          <p:cNvPr id="19" name="Text 17"/>
          <p:cNvSpPr/>
          <p:nvPr/>
        </p:nvSpPr>
        <p:spPr>
          <a:xfrm>
            <a:off x="6903720" y="4480560"/>
            <a:ext cx="4480560" cy="749808"/>
          </a:xfrm>
          <a:prstGeom prst="rect">
            <a:avLst/>
          </a:prstGeom>
          <a:noFill/>
          <a:ln/>
        </p:spPr>
        <p:txBody>
          <a:bodyPr wrap="square" lIns="0" tIns="0" rIns="0" bIns="0" rtlCol="0" anchor="ctr"/>
          <a:lstStyle/>
          <a:p>
            <a:pPr indent="0" marL="0">
              <a:buNone/>
            </a:pPr>
            <a:r>
              <a:rPr lang="en-US" sz="1150" dirty="0">
                <a:solidFill>
                  <a:srgbClr val="9AAEC7"/>
                </a:solidFill>
                <a:latin typeface="Calibri" pitchFamily="34" charset="0"/>
                <a:ea typeface="Calibri" pitchFamily="34" charset="-122"/>
                <a:cs typeface="Calibri" pitchFamily="34" charset="-120"/>
              </a:rPr>
              <a:t>Recommendations to grow BrightTV's subscription base</a:t>
            </a:r>
            <a:endParaRPr lang="en-US" sz="1150" dirty="0"/>
          </a:p>
        </p:txBody>
      </p:sp>
      <p:sp>
        <p:nvSpPr>
          <p:cNvPr id="20" name="Shape 18"/>
          <p:cNvSpPr/>
          <p:nvPr/>
        </p:nvSpPr>
        <p:spPr>
          <a:xfrm>
            <a:off x="548640" y="5394960"/>
            <a:ext cx="11064240" cy="749808"/>
          </a:xfrm>
          <a:prstGeom prst="roundRect">
            <a:avLst>
              <a:gd name="adj" fmla="val 7317"/>
            </a:avLst>
          </a:prstGeom>
          <a:solidFill>
            <a:srgbClr val="141C2E"/>
          </a:solidFill>
          <a:ln w="12700">
            <a:solidFill>
              <a:srgbClr val="26314A"/>
            </a:solidFill>
            <a:prstDash val="solid"/>
          </a:ln>
        </p:spPr>
      </p:sp>
      <p:sp>
        <p:nvSpPr>
          <p:cNvPr id="21" name="Text 19"/>
          <p:cNvSpPr/>
          <p:nvPr/>
        </p:nvSpPr>
        <p:spPr>
          <a:xfrm>
            <a:off x="822960" y="5394960"/>
            <a:ext cx="914400" cy="749808"/>
          </a:xfrm>
          <a:prstGeom prst="rect">
            <a:avLst/>
          </a:prstGeom>
          <a:noFill/>
          <a:ln/>
        </p:spPr>
        <p:txBody>
          <a:bodyPr wrap="square" lIns="0" tIns="0" rIns="0" bIns="0" rtlCol="0" anchor="ctr"/>
          <a:lstStyle/>
          <a:p>
            <a:pPr indent="0" marL="0">
              <a:buNone/>
            </a:pPr>
            <a:r>
              <a:rPr lang="en-US" sz="2400" b="1" dirty="0">
                <a:solidFill>
                  <a:srgbClr val="F2C14E"/>
                </a:solidFill>
                <a:latin typeface="Cambria" pitchFamily="34" charset="0"/>
                <a:ea typeface="Cambria" pitchFamily="34" charset="-122"/>
                <a:cs typeface="Cambria" pitchFamily="34" charset="-120"/>
              </a:rPr>
              <a:t>05</a:t>
            </a:r>
            <a:endParaRPr lang="en-US" sz="2400" dirty="0"/>
          </a:p>
        </p:txBody>
      </p:sp>
      <p:sp>
        <p:nvSpPr>
          <p:cNvPr id="22" name="Text 20"/>
          <p:cNvSpPr/>
          <p:nvPr/>
        </p:nvSpPr>
        <p:spPr>
          <a:xfrm>
            <a:off x="1874520" y="5468112"/>
            <a:ext cx="4937760" cy="365760"/>
          </a:xfrm>
          <a:prstGeom prst="rect">
            <a:avLst/>
          </a:prstGeom>
          <a:noFill/>
          <a:ln/>
        </p:spPr>
        <p:txBody>
          <a:bodyPr wrap="square" lIns="0" tIns="0" rIns="0" bIns="0" rtlCol="0" anchor="ctr"/>
          <a:lstStyle/>
          <a:p>
            <a:pPr indent="0" marL="0">
              <a:buNone/>
            </a:pPr>
            <a:r>
              <a:rPr lang="en-US" sz="1550" b="1" dirty="0">
                <a:solidFill>
                  <a:srgbClr val="F5F7FA"/>
                </a:solidFill>
                <a:latin typeface="Calibri" pitchFamily="34" charset="0"/>
                <a:ea typeface="Calibri" pitchFamily="34" charset="-122"/>
                <a:cs typeface="Calibri" pitchFamily="34" charset="-120"/>
              </a:rPr>
              <a:t>Summary &amp; Next Steps</a:t>
            </a:r>
            <a:endParaRPr lang="en-US" sz="1550" dirty="0"/>
          </a:p>
        </p:txBody>
      </p:sp>
      <p:sp>
        <p:nvSpPr>
          <p:cNvPr id="23" name="Text 21"/>
          <p:cNvSpPr/>
          <p:nvPr/>
        </p:nvSpPr>
        <p:spPr>
          <a:xfrm>
            <a:off x="6903720" y="5394960"/>
            <a:ext cx="4480560" cy="749808"/>
          </a:xfrm>
          <a:prstGeom prst="rect">
            <a:avLst/>
          </a:prstGeom>
          <a:noFill/>
          <a:ln/>
        </p:spPr>
        <p:txBody>
          <a:bodyPr wrap="square" lIns="0" tIns="0" rIns="0" bIns="0" rtlCol="0" anchor="ctr"/>
          <a:lstStyle/>
          <a:p>
            <a:pPr indent="0" marL="0">
              <a:buNone/>
            </a:pPr>
            <a:r>
              <a:rPr lang="en-US" sz="1150" dirty="0">
                <a:solidFill>
                  <a:srgbClr val="9AAEC7"/>
                </a:solidFill>
                <a:latin typeface="Calibri" pitchFamily="34" charset="0"/>
                <a:ea typeface="Calibri" pitchFamily="34" charset="-122"/>
                <a:cs typeface="Calibri" pitchFamily="34" charset="-120"/>
              </a:rPr>
              <a:t>Key takeaways and where the CVM team should focus first</a:t>
            </a:r>
            <a:endParaRPr lang="en-US" sz="1150" dirty="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9AAEC7"/>
                </a:solidFill>
                <a:latin typeface="Calibri" pitchFamily="34" charset="0"/>
                <a:ea typeface="Calibri" pitchFamily="34" charset="-122"/>
                <a:cs typeface="Calibri" pitchFamily="34" charset="-120"/>
              </a:rPr>
              <a:t>BrightTV  |  CVM Growth Insights</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9AAEC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F2C14E"/>
                </a:solidFill>
                <a:latin typeface="Calibri" pitchFamily="34" charset="0"/>
                <a:ea typeface="Calibri" pitchFamily="34" charset="-122"/>
                <a:cs typeface="Calibri" pitchFamily="34" charset="-120"/>
              </a:rPr>
              <a:t>WHERE WE STAND</a:t>
            </a:r>
            <a:endParaRPr lang="en-US" sz="125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Executive Summary</a:t>
            </a:r>
            <a:endParaRPr lang="en-US" sz="3000" dirty="0"/>
          </a:p>
        </p:txBody>
      </p:sp>
      <p:sp>
        <p:nvSpPr>
          <p:cNvPr id="4" name="Shape 2"/>
          <p:cNvSpPr/>
          <p:nvPr/>
        </p:nvSpPr>
        <p:spPr>
          <a:xfrm>
            <a:off x="548640" y="1691640"/>
            <a:ext cx="2606040" cy="1965960"/>
          </a:xfrm>
          <a:prstGeom prst="roundRect">
            <a:avLst>
              <a:gd name="adj" fmla="val 3721"/>
            </a:avLst>
          </a:prstGeom>
          <a:solidFill>
            <a:srgbClr val="141C2E"/>
          </a:solidFill>
          <a:ln w="12700">
            <a:solidFill>
              <a:srgbClr val="26314A"/>
            </a:solidFill>
            <a:prstDash val="solid"/>
          </a:ln>
        </p:spPr>
      </p:sp>
      <p:sp>
        <p:nvSpPr>
          <p:cNvPr id="5" name="Text 3"/>
          <p:cNvSpPr/>
          <p:nvPr/>
        </p:nvSpPr>
        <p:spPr>
          <a:xfrm>
            <a:off x="685800" y="2011680"/>
            <a:ext cx="2331720" cy="777240"/>
          </a:xfrm>
          <a:prstGeom prst="rect">
            <a:avLst/>
          </a:prstGeom>
          <a:noFill/>
          <a:ln/>
        </p:spPr>
        <p:txBody>
          <a:bodyPr wrap="square" lIns="0" tIns="0" rIns="0" bIns="0" rtlCol="0" anchor="ctr"/>
          <a:lstStyle/>
          <a:p>
            <a:pPr indent="0" marL="0">
              <a:buNone/>
            </a:pPr>
            <a:r>
              <a:rPr lang="en-US" sz="3400" b="1" dirty="0">
                <a:solidFill>
                  <a:srgbClr val="2FB3D6"/>
                </a:solidFill>
                <a:latin typeface="Cambria" pitchFamily="34" charset="0"/>
                <a:ea typeface="Cambria" pitchFamily="34" charset="-122"/>
                <a:cs typeface="Cambria" pitchFamily="34" charset="-120"/>
              </a:rPr>
              <a:t>9,995</a:t>
            </a:r>
            <a:endParaRPr lang="en-US" sz="3400" dirty="0"/>
          </a:p>
        </p:txBody>
      </p:sp>
      <p:sp>
        <p:nvSpPr>
          <p:cNvPr id="6" name="Text 4"/>
          <p:cNvSpPr/>
          <p:nvPr/>
        </p:nvSpPr>
        <p:spPr>
          <a:xfrm>
            <a:off x="685800" y="2834640"/>
            <a:ext cx="2331720" cy="731520"/>
          </a:xfrm>
          <a:prstGeom prst="rect">
            <a:avLst/>
          </a:prstGeom>
          <a:noFill/>
          <a:ln/>
        </p:spPr>
        <p:txBody>
          <a:bodyPr wrap="square" lIns="0" tIns="0" rIns="0" bIns="0" rtlCol="0" anchor="ctr"/>
          <a:lstStyle/>
          <a:p>
            <a:pPr indent="0" marL="0">
              <a:lnSpc>
                <a:spcPct val="115000"/>
              </a:lnSpc>
              <a:buNone/>
            </a:pPr>
            <a:r>
              <a:rPr lang="en-US" sz="1150" dirty="0">
                <a:solidFill>
                  <a:srgbClr val="9AAEC7"/>
                </a:solidFill>
                <a:latin typeface="Calibri" pitchFamily="34" charset="0"/>
                <a:ea typeface="Calibri" pitchFamily="34" charset="-122"/>
                <a:cs typeface="Calibri" pitchFamily="34" charset="-120"/>
              </a:rPr>
              <a:t>Total active users</a:t>
            </a:r>
            <a:endParaRPr lang="en-US" sz="1150" dirty="0"/>
          </a:p>
          <a:p>
            <a:pPr indent="0" marL="0">
              <a:lnSpc>
                <a:spcPct val="115000"/>
              </a:lnSpc>
              <a:buNone/>
            </a:pPr>
            <a:r>
              <a:rPr lang="en-US" sz="1150" dirty="0">
                <a:solidFill>
                  <a:srgbClr val="9AAEC7"/>
                </a:solidFill>
                <a:latin typeface="Calibri" pitchFamily="34" charset="0"/>
                <a:ea typeface="Calibri" pitchFamily="34" charset="-122"/>
                <a:cs typeface="Calibri" pitchFamily="34" charset="-120"/>
              </a:rPr>
              <a:t>in the dataset</a:t>
            </a:r>
            <a:endParaRPr lang="en-US" sz="1150" dirty="0"/>
          </a:p>
        </p:txBody>
      </p:sp>
      <p:sp>
        <p:nvSpPr>
          <p:cNvPr id="7" name="Shape 5"/>
          <p:cNvSpPr/>
          <p:nvPr/>
        </p:nvSpPr>
        <p:spPr>
          <a:xfrm>
            <a:off x="3410712" y="1691640"/>
            <a:ext cx="2606040" cy="1965960"/>
          </a:xfrm>
          <a:prstGeom prst="roundRect">
            <a:avLst>
              <a:gd name="adj" fmla="val 3721"/>
            </a:avLst>
          </a:prstGeom>
          <a:solidFill>
            <a:srgbClr val="141C2E"/>
          </a:solidFill>
          <a:ln w="12700">
            <a:solidFill>
              <a:srgbClr val="26314A"/>
            </a:solidFill>
            <a:prstDash val="solid"/>
          </a:ln>
        </p:spPr>
      </p:sp>
      <p:sp>
        <p:nvSpPr>
          <p:cNvPr id="8" name="Text 6"/>
          <p:cNvSpPr/>
          <p:nvPr/>
        </p:nvSpPr>
        <p:spPr>
          <a:xfrm>
            <a:off x="3547872" y="2011680"/>
            <a:ext cx="2331720" cy="777240"/>
          </a:xfrm>
          <a:prstGeom prst="rect">
            <a:avLst/>
          </a:prstGeom>
          <a:noFill/>
          <a:ln/>
        </p:spPr>
        <p:txBody>
          <a:bodyPr wrap="square" lIns="0" tIns="0" rIns="0" bIns="0" rtlCol="0" anchor="ctr"/>
          <a:lstStyle/>
          <a:p>
            <a:pPr indent="0" marL="0">
              <a:buNone/>
            </a:pPr>
            <a:r>
              <a:rPr lang="en-US" sz="3400" b="1" dirty="0">
                <a:solidFill>
                  <a:srgbClr val="F2C14E"/>
                </a:solidFill>
                <a:latin typeface="Cambria" pitchFamily="34" charset="0"/>
                <a:ea typeface="Cambria" pitchFamily="34" charset="-122"/>
                <a:cs typeface="Cambria" pitchFamily="34" charset="-120"/>
              </a:rPr>
              <a:t>9.14</a:t>
            </a:r>
            <a:endParaRPr lang="en-US" sz="3400" dirty="0"/>
          </a:p>
        </p:txBody>
      </p:sp>
      <p:sp>
        <p:nvSpPr>
          <p:cNvPr id="9" name="Text 7"/>
          <p:cNvSpPr/>
          <p:nvPr/>
        </p:nvSpPr>
        <p:spPr>
          <a:xfrm>
            <a:off x="3547872" y="2834640"/>
            <a:ext cx="2331720" cy="731520"/>
          </a:xfrm>
          <a:prstGeom prst="rect">
            <a:avLst/>
          </a:prstGeom>
          <a:noFill/>
          <a:ln/>
        </p:spPr>
        <p:txBody>
          <a:bodyPr wrap="square" lIns="0" tIns="0" rIns="0" bIns="0" rtlCol="0" anchor="ctr"/>
          <a:lstStyle/>
          <a:p>
            <a:pPr indent="0" marL="0">
              <a:lnSpc>
                <a:spcPct val="115000"/>
              </a:lnSpc>
              <a:buNone/>
            </a:pPr>
            <a:r>
              <a:rPr lang="en-US" sz="1150" dirty="0">
                <a:solidFill>
                  <a:srgbClr val="9AAEC7"/>
                </a:solidFill>
                <a:latin typeface="Calibri" pitchFamily="34" charset="0"/>
                <a:ea typeface="Calibri" pitchFamily="34" charset="-122"/>
                <a:cs typeface="Calibri" pitchFamily="34" charset="-120"/>
              </a:rPr>
              <a:t>Average viewing</a:t>
            </a:r>
            <a:endParaRPr lang="en-US" sz="1150" dirty="0"/>
          </a:p>
          <a:p>
            <a:pPr indent="0" marL="0">
              <a:lnSpc>
                <a:spcPct val="115000"/>
              </a:lnSpc>
              <a:buNone/>
            </a:pPr>
            <a:r>
              <a:rPr lang="en-US" sz="1150" dirty="0">
                <a:solidFill>
                  <a:srgbClr val="9AAEC7"/>
                </a:solidFill>
                <a:latin typeface="Calibri" pitchFamily="34" charset="0"/>
                <a:ea typeface="Calibri" pitchFamily="34" charset="-122"/>
                <a:cs typeface="Calibri" pitchFamily="34" charset="-120"/>
              </a:rPr>
              <a:t>per user</a:t>
            </a:r>
            <a:endParaRPr lang="en-US" sz="1150" dirty="0"/>
          </a:p>
        </p:txBody>
      </p:sp>
      <p:sp>
        <p:nvSpPr>
          <p:cNvPr id="10" name="Shape 8"/>
          <p:cNvSpPr/>
          <p:nvPr/>
        </p:nvSpPr>
        <p:spPr>
          <a:xfrm>
            <a:off x="6272784" y="1691640"/>
            <a:ext cx="2606040" cy="1965960"/>
          </a:xfrm>
          <a:prstGeom prst="roundRect">
            <a:avLst>
              <a:gd name="adj" fmla="val 3721"/>
            </a:avLst>
          </a:prstGeom>
          <a:solidFill>
            <a:srgbClr val="141C2E"/>
          </a:solidFill>
          <a:ln w="12700">
            <a:solidFill>
              <a:srgbClr val="26314A"/>
            </a:solidFill>
            <a:prstDash val="solid"/>
          </a:ln>
        </p:spPr>
      </p:sp>
      <p:sp>
        <p:nvSpPr>
          <p:cNvPr id="11" name="Text 9"/>
          <p:cNvSpPr/>
          <p:nvPr/>
        </p:nvSpPr>
        <p:spPr>
          <a:xfrm>
            <a:off x="6409944" y="2011680"/>
            <a:ext cx="2331720" cy="777240"/>
          </a:xfrm>
          <a:prstGeom prst="rect">
            <a:avLst/>
          </a:prstGeom>
          <a:noFill/>
          <a:ln/>
        </p:spPr>
        <p:txBody>
          <a:bodyPr wrap="square" lIns="0" tIns="0" rIns="0" bIns="0" rtlCol="0" anchor="ctr"/>
          <a:lstStyle/>
          <a:p>
            <a:pPr indent="0" marL="0">
              <a:buNone/>
            </a:pPr>
            <a:r>
              <a:rPr lang="en-US" sz="3400" b="1" dirty="0">
                <a:solidFill>
                  <a:srgbClr val="3FC28A"/>
                </a:solidFill>
                <a:latin typeface="Cambria" pitchFamily="34" charset="0"/>
                <a:ea typeface="Cambria" pitchFamily="34" charset="-122"/>
                <a:cs typeface="Cambria" pitchFamily="34" charset="-120"/>
              </a:rPr>
              <a:t>+114%</a:t>
            </a:r>
            <a:endParaRPr lang="en-US" sz="3400" dirty="0"/>
          </a:p>
        </p:txBody>
      </p:sp>
      <p:sp>
        <p:nvSpPr>
          <p:cNvPr id="12" name="Text 10"/>
          <p:cNvSpPr/>
          <p:nvPr/>
        </p:nvSpPr>
        <p:spPr>
          <a:xfrm>
            <a:off x="6409944" y="2834640"/>
            <a:ext cx="2331720" cy="731520"/>
          </a:xfrm>
          <a:prstGeom prst="rect">
            <a:avLst/>
          </a:prstGeom>
          <a:noFill/>
          <a:ln/>
        </p:spPr>
        <p:txBody>
          <a:bodyPr wrap="square" lIns="0" tIns="0" rIns="0" bIns="0" rtlCol="0" anchor="ctr"/>
          <a:lstStyle/>
          <a:p>
            <a:pPr indent="0" marL="0">
              <a:lnSpc>
                <a:spcPct val="115000"/>
              </a:lnSpc>
              <a:buNone/>
            </a:pPr>
            <a:r>
              <a:rPr lang="en-US" sz="1150" dirty="0">
                <a:solidFill>
                  <a:srgbClr val="9AAEC7"/>
                </a:solidFill>
                <a:latin typeface="Calibri" pitchFamily="34" charset="0"/>
                <a:ea typeface="Calibri" pitchFamily="34" charset="-122"/>
                <a:cs typeface="Calibri" pitchFamily="34" charset="-120"/>
              </a:rPr>
              <a:t>Active user growth,</a:t>
            </a:r>
            <a:endParaRPr lang="en-US" sz="1150" dirty="0"/>
          </a:p>
          <a:p>
            <a:pPr indent="0" marL="0">
              <a:lnSpc>
                <a:spcPct val="115000"/>
              </a:lnSpc>
              <a:buNone/>
            </a:pPr>
            <a:r>
              <a:rPr lang="en-US" sz="1150" dirty="0">
                <a:solidFill>
                  <a:srgbClr val="9AAEC7"/>
                </a:solidFill>
                <a:latin typeface="Calibri" pitchFamily="34" charset="0"/>
                <a:ea typeface="Calibri" pitchFamily="34" charset="-122"/>
                <a:cs typeface="Calibri" pitchFamily="34" charset="-120"/>
              </a:rPr>
              <a:t>January to March</a:t>
            </a:r>
            <a:endParaRPr lang="en-US" sz="1150" dirty="0"/>
          </a:p>
        </p:txBody>
      </p:sp>
      <p:sp>
        <p:nvSpPr>
          <p:cNvPr id="13" name="Shape 11"/>
          <p:cNvSpPr/>
          <p:nvPr/>
        </p:nvSpPr>
        <p:spPr>
          <a:xfrm>
            <a:off x="9134856" y="1691640"/>
            <a:ext cx="2606040" cy="1965960"/>
          </a:xfrm>
          <a:prstGeom prst="roundRect">
            <a:avLst>
              <a:gd name="adj" fmla="val 3721"/>
            </a:avLst>
          </a:prstGeom>
          <a:solidFill>
            <a:srgbClr val="141C2E"/>
          </a:solidFill>
          <a:ln w="12700">
            <a:solidFill>
              <a:srgbClr val="26314A"/>
            </a:solidFill>
            <a:prstDash val="solid"/>
          </a:ln>
        </p:spPr>
      </p:sp>
      <p:sp>
        <p:nvSpPr>
          <p:cNvPr id="14" name="Text 12"/>
          <p:cNvSpPr/>
          <p:nvPr/>
        </p:nvSpPr>
        <p:spPr>
          <a:xfrm>
            <a:off x="9272016" y="2011680"/>
            <a:ext cx="2331720" cy="777240"/>
          </a:xfrm>
          <a:prstGeom prst="rect">
            <a:avLst/>
          </a:prstGeom>
          <a:noFill/>
          <a:ln/>
        </p:spPr>
        <p:txBody>
          <a:bodyPr wrap="square" lIns="0" tIns="0" rIns="0" bIns="0" rtlCol="0" anchor="ctr"/>
          <a:lstStyle/>
          <a:p>
            <a:pPr indent="0" marL="0">
              <a:buNone/>
            </a:pPr>
            <a:r>
              <a:rPr lang="en-US" sz="3400" b="1" dirty="0">
                <a:solidFill>
                  <a:srgbClr val="E6635A"/>
                </a:solidFill>
                <a:latin typeface="Cambria" pitchFamily="34" charset="0"/>
                <a:ea typeface="Cambria" pitchFamily="34" charset="-122"/>
                <a:cs typeface="Cambria" pitchFamily="34" charset="-120"/>
              </a:rPr>
              <a:t>Youth</a:t>
            </a:r>
            <a:endParaRPr lang="en-US" sz="3400" dirty="0"/>
          </a:p>
        </p:txBody>
      </p:sp>
      <p:sp>
        <p:nvSpPr>
          <p:cNvPr id="15" name="Text 13"/>
          <p:cNvSpPr/>
          <p:nvPr/>
        </p:nvSpPr>
        <p:spPr>
          <a:xfrm>
            <a:off x="9272016" y="2834640"/>
            <a:ext cx="2331720" cy="731520"/>
          </a:xfrm>
          <a:prstGeom prst="rect">
            <a:avLst/>
          </a:prstGeom>
          <a:noFill/>
          <a:ln/>
        </p:spPr>
        <p:txBody>
          <a:bodyPr wrap="square" lIns="0" tIns="0" rIns="0" bIns="0" rtlCol="0" anchor="ctr"/>
          <a:lstStyle/>
          <a:p>
            <a:pPr indent="0" marL="0">
              <a:lnSpc>
                <a:spcPct val="115000"/>
              </a:lnSpc>
              <a:buNone/>
            </a:pPr>
            <a:r>
              <a:rPr lang="en-US" sz="1150" dirty="0">
                <a:solidFill>
                  <a:srgbClr val="9AAEC7"/>
                </a:solidFill>
                <a:latin typeface="Calibri" pitchFamily="34" charset="0"/>
                <a:ea typeface="Calibri" pitchFamily="34" charset="-122"/>
                <a:cs typeface="Calibri" pitchFamily="34" charset="-120"/>
              </a:rPr>
              <a:t>Largest age segment</a:t>
            </a:r>
            <a:endParaRPr lang="en-US" sz="1150" dirty="0"/>
          </a:p>
          <a:p>
            <a:pPr indent="0" marL="0">
              <a:lnSpc>
                <a:spcPct val="115000"/>
              </a:lnSpc>
              <a:buNone/>
            </a:pPr>
            <a:r>
              <a:rPr lang="en-US" sz="1150" dirty="0">
                <a:solidFill>
                  <a:srgbClr val="9AAEC7"/>
                </a:solidFill>
                <a:latin typeface="Calibri" pitchFamily="34" charset="0"/>
                <a:ea typeface="Calibri" pitchFamily="34" charset="-122"/>
                <a:cs typeface="Calibri" pitchFamily="34" charset="-120"/>
              </a:rPr>
              <a:t>(~60% of views)</a:t>
            </a:r>
            <a:endParaRPr lang="en-US" sz="1150" dirty="0"/>
          </a:p>
        </p:txBody>
      </p:sp>
      <p:sp>
        <p:nvSpPr>
          <p:cNvPr id="16" name="Shape 14"/>
          <p:cNvSpPr/>
          <p:nvPr/>
        </p:nvSpPr>
        <p:spPr>
          <a:xfrm>
            <a:off x="548640" y="3977640"/>
            <a:ext cx="11064240" cy="2148840"/>
          </a:xfrm>
          <a:prstGeom prst="roundRect">
            <a:avLst>
              <a:gd name="adj" fmla="val 3404"/>
            </a:avLst>
          </a:prstGeom>
          <a:solidFill>
            <a:srgbClr val="1B2540"/>
          </a:solidFill>
          <a:ln w="12700">
            <a:solidFill>
              <a:srgbClr val="26314A"/>
            </a:solidFill>
            <a:prstDash val="solid"/>
          </a:ln>
        </p:spPr>
      </p:sp>
      <p:sp>
        <p:nvSpPr>
          <p:cNvPr id="17" name="Text 15"/>
          <p:cNvSpPr/>
          <p:nvPr/>
        </p:nvSpPr>
        <p:spPr>
          <a:xfrm>
            <a:off x="868680" y="4206240"/>
            <a:ext cx="7315200" cy="320040"/>
          </a:xfrm>
          <a:prstGeom prst="rect">
            <a:avLst/>
          </a:prstGeom>
          <a:noFill/>
          <a:ln/>
        </p:spPr>
        <p:txBody>
          <a:bodyPr wrap="square" lIns="0" tIns="0" rIns="0" bIns="0" rtlCol="0" anchor="ctr"/>
          <a:lstStyle/>
          <a:p>
            <a:pPr indent="0" marL="0">
              <a:buNone/>
            </a:pPr>
            <a:r>
              <a:rPr lang="en-US" sz="1300" b="1" dirty="0">
                <a:solidFill>
                  <a:srgbClr val="2FB3D6"/>
                </a:solidFill>
                <a:latin typeface="Calibri" pitchFamily="34" charset="0"/>
                <a:ea typeface="Calibri" pitchFamily="34" charset="-122"/>
                <a:cs typeface="Calibri" pitchFamily="34" charset="-120"/>
              </a:rPr>
              <a:t>The headline</a:t>
            </a:r>
            <a:endParaRPr lang="en-US" sz="1300" dirty="0"/>
          </a:p>
        </p:txBody>
      </p:sp>
      <p:sp>
        <p:nvSpPr>
          <p:cNvPr id="18" name="Text 16"/>
          <p:cNvSpPr/>
          <p:nvPr/>
        </p:nvSpPr>
        <p:spPr>
          <a:xfrm>
            <a:off x="868680" y="4572000"/>
            <a:ext cx="10424160" cy="1463040"/>
          </a:xfrm>
          <a:prstGeom prst="rect">
            <a:avLst/>
          </a:prstGeom>
          <a:noFill/>
          <a:ln/>
        </p:spPr>
        <p:txBody>
          <a:bodyPr wrap="square" lIns="0" tIns="0" rIns="0" bIns="0" rtlCol="0" anchor="ctr"/>
          <a:lstStyle/>
          <a:p>
            <a:pPr indent="0" marL="0">
              <a:lnSpc>
                <a:spcPct val="125000"/>
              </a:lnSpc>
              <a:buNone/>
            </a:pPr>
            <a:r>
              <a:rPr lang="en-US" sz="1350" dirty="0">
                <a:solidFill>
                  <a:srgbClr val="F5F7FA"/>
                </a:solidFill>
                <a:latin typeface="Calibri" pitchFamily="34" charset="0"/>
                <a:ea typeface="Calibri" pitchFamily="34" charset="-122"/>
                <a:cs typeface="Calibri" pitchFamily="34" charset="-120"/>
              </a:rPr>
              <a:t>BrightTV's user base and daily session volume both trended strongly upward over Q1, with growth accelerating into March. Consumption is concentrated around live sports and event programming, peaks on weekends and in the 10am–6pm window, and skews heavily toward a young, male-leaning audience — all of which point to clear, specific levers the CVM team can pull to hit this year's subscription growth objective.</a:t>
            </a:r>
            <a:endParaRPr lang="en-US" sz="1350" dirty="0"/>
          </a:p>
        </p:txBody>
      </p:sp>
      <p:sp>
        <p:nvSpPr>
          <p:cNvPr id="19" name="Text 17"/>
          <p:cNvSpPr/>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9AAEC7"/>
                </a:solidFill>
                <a:latin typeface="Calibri" pitchFamily="34" charset="0"/>
                <a:ea typeface="Calibri" pitchFamily="34" charset="-122"/>
                <a:cs typeface="Calibri" pitchFamily="34" charset="-120"/>
              </a:rPr>
              <a:t>BrightTV  |  CVM Growth Insights</a:t>
            </a:r>
            <a:endParaRPr lang="en-US" sz="900" dirty="0"/>
          </a:p>
        </p:txBody>
      </p:sp>
      <p:sp>
        <p:nvSpPr>
          <p:cNvPr id="20" name="Text 18"/>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9AAEC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9418320" y="-2194560"/>
            <a:ext cx="5943600" cy="5943600"/>
          </a:xfrm>
          <a:prstGeom prst="ellipse">
            <a:avLst/>
          </a:prstGeom>
          <a:solidFill>
            <a:srgbClr val="10192B"/>
          </a:solidFill>
          <a:ln/>
        </p:spPr>
      </p:sp>
      <p:sp>
        <p:nvSpPr>
          <p:cNvPr id="3" name="Text 1"/>
          <p:cNvSpPr/>
          <p:nvPr/>
        </p:nvSpPr>
        <p:spPr>
          <a:xfrm>
            <a:off x="777240" y="2331720"/>
            <a:ext cx="2743200" cy="1188720"/>
          </a:xfrm>
          <a:prstGeom prst="rect">
            <a:avLst/>
          </a:prstGeom>
          <a:noFill/>
          <a:ln/>
        </p:spPr>
        <p:txBody>
          <a:bodyPr wrap="square" lIns="0" tIns="0" rIns="0" bIns="0" rtlCol="0" anchor="ctr"/>
          <a:lstStyle/>
          <a:p>
            <a:pPr indent="0" marL="0">
              <a:buNone/>
            </a:pPr>
            <a:r>
              <a:rPr lang="en-US" sz="6000" b="1" dirty="0">
                <a:solidFill>
                  <a:srgbClr val="20304F"/>
                </a:solidFill>
                <a:latin typeface="Cambria" pitchFamily="34" charset="0"/>
                <a:ea typeface="Cambria" pitchFamily="34" charset="-122"/>
                <a:cs typeface="Cambria" pitchFamily="34" charset="-120"/>
              </a:rPr>
              <a:t>01</a:t>
            </a:r>
            <a:endParaRPr lang="en-US" sz="6000" dirty="0"/>
          </a:p>
        </p:txBody>
      </p:sp>
      <p:sp>
        <p:nvSpPr>
          <p:cNvPr id="4" name="Text 2"/>
          <p:cNvSpPr/>
          <p:nvPr/>
        </p:nvSpPr>
        <p:spPr>
          <a:xfrm>
            <a:off x="822960" y="3246120"/>
            <a:ext cx="7315200" cy="365760"/>
          </a:xfrm>
          <a:prstGeom prst="rect">
            <a:avLst/>
          </a:prstGeom>
          <a:noFill/>
          <a:ln/>
        </p:spPr>
        <p:txBody>
          <a:bodyPr wrap="square" lIns="0" tIns="0" rIns="0" bIns="0" rtlCol="0" anchor="ctr"/>
          <a:lstStyle/>
          <a:p>
            <a:pPr indent="0" marL="0">
              <a:buNone/>
            </a:pPr>
            <a:r>
              <a:rPr lang="en-US" sz="1300" b="1" spc="200" kern="0" dirty="0">
                <a:solidFill>
                  <a:srgbClr val="2FB3D6"/>
                </a:solidFill>
                <a:latin typeface="Calibri" pitchFamily="34" charset="0"/>
                <a:ea typeface="Calibri" pitchFamily="34" charset="-122"/>
                <a:cs typeface="Calibri" pitchFamily="34" charset="-120"/>
              </a:rPr>
              <a:t>SECTION ONE</a:t>
            </a:r>
            <a:endParaRPr lang="en-US" sz="1300" dirty="0"/>
          </a:p>
        </p:txBody>
      </p:sp>
      <p:sp>
        <p:nvSpPr>
          <p:cNvPr id="5" name="Text 3"/>
          <p:cNvSpPr/>
          <p:nvPr/>
        </p:nvSpPr>
        <p:spPr>
          <a:xfrm>
            <a:off x="777240" y="3566160"/>
            <a:ext cx="9601200" cy="1005840"/>
          </a:xfrm>
          <a:prstGeom prst="rect">
            <a:avLst/>
          </a:prstGeom>
          <a:noFill/>
          <a:ln/>
        </p:spPr>
        <p:txBody>
          <a:bodyPr wrap="square" lIns="0" tIns="0" rIns="0" bIns="0" rtlCol="0" anchor="ctr"/>
          <a:lstStyle/>
          <a:p>
            <a:pPr indent="0" marL="0">
              <a:buNone/>
            </a:pPr>
            <a:r>
              <a:rPr lang="en-US" sz="3600" b="1" dirty="0">
                <a:solidFill>
                  <a:srgbClr val="F5F7FA"/>
                </a:solidFill>
                <a:latin typeface="Cambria" pitchFamily="34" charset="0"/>
                <a:ea typeface="Cambria" pitchFamily="34" charset="-122"/>
                <a:cs typeface="Cambria" pitchFamily="34" charset="-120"/>
              </a:rPr>
              <a:t>User &amp; Usage Trends</a:t>
            </a:r>
            <a:endParaRPr lang="en-US" sz="3600" dirty="0"/>
          </a:p>
        </p:txBody>
      </p:sp>
      <p:sp>
        <p:nvSpPr>
          <p:cNvPr id="6" name="Text 4"/>
          <p:cNvSpPr/>
          <p:nvPr/>
        </p:nvSpPr>
        <p:spPr>
          <a:xfrm>
            <a:off x="822960" y="4434840"/>
            <a:ext cx="8686800" cy="548640"/>
          </a:xfrm>
          <a:prstGeom prst="rect">
            <a:avLst/>
          </a:prstGeom>
          <a:noFill/>
          <a:ln/>
        </p:spPr>
        <p:txBody>
          <a:bodyPr wrap="square" lIns="0" tIns="0" rIns="0" bIns="0" rtlCol="0" anchor="ctr"/>
          <a:lstStyle/>
          <a:p>
            <a:pPr indent="0" marL="0">
              <a:buNone/>
            </a:pPr>
            <a:r>
              <a:rPr lang="en-US" sz="1400" i="1" dirty="0">
                <a:solidFill>
                  <a:srgbClr val="9AAEC7"/>
                </a:solidFill>
                <a:latin typeface="Calibri" pitchFamily="34" charset="0"/>
                <a:ea typeface="Calibri" pitchFamily="34" charset="-122"/>
                <a:cs typeface="Calibri" pitchFamily="34" charset="-120"/>
              </a:rPr>
              <a:t>How BrightTV's audience and activity moved through the quarter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2FB3D6"/>
                </a:solidFill>
                <a:latin typeface="Calibri" pitchFamily="34" charset="0"/>
                <a:ea typeface="Calibri" pitchFamily="34" charset="-122"/>
                <a:cs typeface="Calibri" pitchFamily="34" charset="-120"/>
              </a:rPr>
              <a:t>USER GROWTH</a:t>
            </a:r>
            <a:endParaRPr lang="en-US" sz="125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Active Users Nearly Doubled by March</a:t>
            </a:r>
            <a:endParaRPr lang="en-US" sz="3000" dirty="0"/>
          </a:p>
        </p:txBody>
      </p:sp>
      <p:sp>
        <p:nvSpPr>
          <p:cNvPr id="4" name="Shape 2"/>
          <p:cNvSpPr/>
          <p:nvPr/>
        </p:nvSpPr>
        <p:spPr>
          <a:xfrm>
            <a:off x="548640" y="1600200"/>
            <a:ext cx="7178040" cy="4480560"/>
          </a:xfrm>
          <a:prstGeom prst="roundRect">
            <a:avLst>
              <a:gd name="adj" fmla="val 1633"/>
            </a:avLst>
          </a:prstGeom>
          <a:solidFill>
            <a:srgbClr val="141C2E"/>
          </a:solidFill>
          <a:ln w="12700">
            <a:solidFill>
              <a:srgbClr val="26314A"/>
            </a:solidFill>
            <a:prstDash val="solid"/>
          </a:ln>
        </p:spPr>
      </p:sp>
      <p:pic>
        <p:nvPicPr>
          <p:cNvPr id="5" name="Image 0" descr="/home/claude/brighttv/visualization__15_.png">    </p:cNvPr>
          <p:cNvPicPr>
            <a:picLocks noChangeAspect="1"/>
          </p:cNvPicPr>
          <p:nvPr/>
        </p:nvPicPr>
        <p:blipFill>
          <a:blip r:embed="rId1"/>
          <a:stretch>
            <a:fillRect/>
          </a:stretch>
        </p:blipFill>
        <p:spPr>
          <a:xfrm>
            <a:off x="804672" y="2827112"/>
            <a:ext cx="6665976" cy="2072455"/>
          </a:xfrm>
          <a:prstGeom prst="rect">
            <a:avLst/>
          </a:prstGeom>
        </p:spPr>
      </p:pic>
      <p:sp>
        <p:nvSpPr>
          <p:cNvPr id="6" name="Shape 3"/>
          <p:cNvSpPr/>
          <p:nvPr/>
        </p:nvSpPr>
        <p:spPr>
          <a:xfrm>
            <a:off x="7955280" y="1600200"/>
            <a:ext cx="3685032" cy="4480560"/>
          </a:xfrm>
          <a:prstGeom prst="roundRect">
            <a:avLst>
              <a:gd name="adj" fmla="val 1985"/>
            </a:avLst>
          </a:prstGeom>
          <a:solidFill>
            <a:srgbClr val="1B2540"/>
          </a:solidFill>
          <a:ln w="12700">
            <a:solidFill>
              <a:srgbClr val="26314A"/>
            </a:solidFill>
            <a:prstDash val="solid"/>
          </a:ln>
        </p:spPr>
      </p:sp>
      <p:sp>
        <p:nvSpPr>
          <p:cNvPr id="7" name="Text 4"/>
          <p:cNvSpPr/>
          <p:nvPr/>
        </p:nvSpPr>
        <p:spPr>
          <a:xfrm>
            <a:off x="8211312" y="1819656"/>
            <a:ext cx="3172968" cy="365760"/>
          </a:xfrm>
          <a:prstGeom prst="rect">
            <a:avLst/>
          </a:prstGeom>
          <a:noFill/>
          <a:ln/>
        </p:spPr>
        <p:txBody>
          <a:bodyPr wrap="square" lIns="0" tIns="0" rIns="0" bIns="0" rtlCol="0" anchor="ctr"/>
          <a:lstStyle/>
          <a:p>
            <a:pPr indent="0" marL="0">
              <a:buNone/>
            </a:pPr>
            <a:r>
              <a:rPr lang="en-US" sz="1300" b="1" dirty="0">
                <a:solidFill>
                  <a:srgbClr val="2FB3D6"/>
                </a:solidFill>
                <a:latin typeface="Calibri" pitchFamily="34" charset="0"/>
                <a:ea typeface="Calibri" pitchFamily="34" charset="-122"/>
                <a:cs typeface="Calibri" pitchFamily="34" charset="-120"/>
              </a:rPr>
              <a:t>What the data shows</a:t>
            </a:r>
            <a:endParaRPr lang="en-US" sz="1300" dirty="0"/>
          </a:p>
        </p:txBody>
      </p:sp>
      <p:sp>
        <p:nvSpPr>
          <p:cNvPr id="8" name="Text 5"/>
          <p:cNvSpPr/>
          <p:nvPr/>
        </p:nvSpPr>
        <p:spPr>
          <a:xfrm>
            <a:off x="8211312" y="2240280"/>
            <a:ext cx="3172968" cy="310896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Active users climbed from ~1,120 in January to ~1,450 in February to ~2,400 in March.</a:t>
            </a:r>
            <a:endParaRPr lang="en-US" sz="1250" dirty="0"/>
          </a:p>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That is +114% growth over the quarter, with the sharpest jump between February and March (+66%).</a:t>
            </a:r>
            <a:endParaRPr lang="en-US" sz="1250" dirty="0"/>
          </a:p>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Growth is accelerating, not levelling off — a strong base to build a subscription push on.</a:t>
            </a:r>
            <a:endParaRPr lang="en-US" sz="1250" dirty="0"/>
          </a:p>
        </p:txBody>
      </p:sp>
      <p:sp>
        <p:nvSpPr>
          <p:cNvPr id="9" name="Shape 6"/>
          <p:cNvSpPr/>
          <p:nvPr/>
        </p:nvSpPr>
        <p:spPr>
          <a:xfrm>
            <a:off x="8211312" y="5166360"/>
            <a:ext cx="3172968" cy="0"/>
          </a:xfrm>
          <a:prstGeom prst="line">
            <a:avLst/>
          </a:prstGeom>
          <a:noFill/>
          <a:ln w="12700">
            <a:solidFill>
              <a:srgbClr val="26314A"/>
            </a:solidFill>
            <a:prstDash val="solid"/>
          </a:ln>
        </p:spPr>
      </p:sp>
      <p:sp>
        <p:nvSpPr>
          <p:cNvPr id="10" name="Text 7"/>
          <p:cNvSpPr/>
          <p:nvPr/>
        </p:nvSpPr>
        <p:spPr>
          <a:xfrm>
            <a:off x="8211312" y="5257800"/>
            <a:ext cx="3172968" cy="457200"/>
          </a:xfrm>
          <a:prstGeom prst="rect">
            <a:avLst/>
          </a:prstGeom>
          <a:noFill/>
          <a:ln/>
        </p:spPr>
        <p:txBody>
          <a:bodyPr wrap="square" lIns="0" tIns="0" rIns="0" bIns="0" rtlCol="0" anchor="ctr"/>
          <a:lstStyle/>
          <a:p>
            <a:pPr indent="0" marL="0">
              <a:buNone/>
            </a:pPr>
            <a:r>
              <a:rPr lang="en-US" sz="2600" b="1" dirty="0">
                <a:solidFill>
                  <a:srgbClr val="F2C14E"/>
                </a:solidFill>
                <a:latin typeface="Cambria" pitchFamily="34" charset="0"/>
                <a:ea typeface="Cambria" pitchFamily="34" charset="-122"/>
                <a:cs typeface="Cambria" pitchFamily="34" charset="-120"/>
              </a:rPr>
              <a:t>+114%</a:t>
            </a:r>
            <a:endParaRPr lang="en-US" sz="2600" dirty="0"/>
          </a:p>
        </p:txBody>
      </p:sp>
      <p:sp>
        <p:nvSpPr>
          <p:cNvPr id="11" name="Text 8"/>
          <p:cNvSpPr/>
          <p:nvPr/>
        </p:nvSpPr>
        <p:spPr>
          <a:xfrm>
            <a:off x="8211312" y="5696712"/>
            <a:ext cx="3172968" cy="274320"/>
          </a:xfrm>
          <a:prstGeom prst="rect">
            <a:avLst/>
          </a:prstGeom>
          <a:noFill/>
          <a:ln/>
        </p:spPr>
        <p:txBody>
          <a:bodyPr wrap="square" lIns="0" tIns="0" rIns="0" bIns="0" rtlCol="0" anchor="ctr"/>
          <a:lstStyle/>
          <a:p>
            <a:pPr indent="0" marL="0">
              <a:buNone/>
            </a:pPr>
            <a:r>
              <a:rPr lang="en-US" sz="1050" dirty="0">
                <a:solidFill>
                  <a:srgbClr val="9AAEC7"/>
                </a:solidFill>
                <a:latin typeface="Calibri" pitchFamily="34" charset="0"/>
                <a:ea typeface="Calibri" pitchFamily="34" charset="-122"/>
                <a:cs typeface="Calibri" pitchFamily="34" charset="-120"/>
              </a:rPr>
              <a:t>Active user growth, Jan → Mar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2FB3D6"/>
                </a:solidFill>
                <a:latin typeface="Calibri" pitchFamily="34" charset="0"/>
                <a:ea typeface="Calibri" pitchFamily="34" charset="-122"/>
                <a:cs typeface="Calibri" pitchFamily="34" charset="-120"/>
              </a:rPr>
              <a:t>USER GROWTH</a:t>
            </a:r>
            <a:endParaRPr lang="en-US" sz="125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Daily Sessions Are Trending Up — and Spikier</a:t>
            </a:r>
            <a:endParaRPr lang="en-US" sz="3000" dirty="0"/>
          </a:p>
        </p:txBody>
      </p:sp>
      <p:sp>
        <p:nvSpPr>
          <p:cNvPr id="4" name="Shape 2"/>
          <p:cNvSpPr/>
          <p:nvPr/>
        </p:nvSpPr>
        <p:spPr>
          <a:xfrm>
            <a:off x="548640" y="1600200"/>
            <a:ext cx="7178040" cy="4480560"/>
          </a:xfrm>
          <a:prstGeom prst="roundRect">
            <a:avLst>
              <a:gd name="adj" fmla="val 1633"/>
            </a:avLst>
          </a:prstGeom>
          <a:solidFill>
            <a:srgbClr val="141C2E"/>
          </a:solidFill>
          <a:ln w="12700">
            <a:solidFill>
              <a:srgbClr val="26314A"/>
            </a:solidFill>
            <a:prstDash val="solid"/>
          </a:ln>
        </p:spPr>
      </p:sp>
      <p:pic>
        <p:nvPicPr>
          <p:cNvPr id="5" name="Image 0" descr="/home/claude/brighttv/visualization__14_.png">    </p:cNvPr>
          <p:cNvPicPr>
            <a:picLocks noChangeAspect="1"/>
          </p:cNvPicPr>
          <p:nvPr/>
        </p:nvPicPr>
        <p:blipFill>
          <a:blip r:embed="rId1"/>
          <a:stretch>
            <a:fillRect/>
          </a:stretch>
        </p:blipFill>
        <p:spPr>
          <a:xfrm>
            <a:off x="804672" y="2827112"/>
            <a:ext cx="6665976" cy="2072455"/>
          </a:xfrm>
          <a:prstGeom prst="rect">
            <a:avLst/>
          </a:prstGeom>
        </p:spPr>
      </p:pic>
      <p:sp>
        <p:nvSpPr>
          <p:cNvPr id="6" name="Shape 3"/>
          <p:cNvSpPr/>
          <p:nvPr/>
        </p:nvSpPr>
        <p:spPr>
          <a:xfrm>
            <a:off x="7955280" y="1600200"/>
            <a:ext cx="3685032" cy="4480560"/>
          </a:xfrm>
          <a:prstGeom prst="roundRect">
            <a:avLst>
              <a:gd name="adj" fmla="val 1985"/>
            </a:avLst>
          </a:prstGeom>
          <a:solidFill>
            <a:srgbClr val="1B2540"/>
          </a:solidFill>
          <a:ln w="12700">
            <a:solidFill>
              <a:srgbClr val="26314A"/>
            </a:solidFill>
            <a:prstDash val="solid"/>
          </a:ln>
        </p:spPr>
      </p:sp>
      <p:sp>
        <p:nvSpPr>
          <p:cNvPr id="7" name="Text 4"/>
          <p:cNvSpPr/>
          <p:nvPr/>
        </p:nvSpPr>
        <p:spPr>
          <a:xfrm>
            <a:off x="8211312" y="1819656"/>
            <a:ext cx="3172968" cy="365760"/>
          </a:xfrm>
          <a:prstGeom prst="rect">
            <a:avLst/>
          </a:prstGeom>
          <a:noFill/>
          <a:ln/>
        </p:spPr>
        <p:txBody>
          <a:bodyPr wrap="square" lIns="0" tIns="0" rIns="0" bIns="0" rtlCol="0" anchor="ctr"/>
          <a:lstStyle/>
          <a:p>
            <a:pPr indent="0" marL="0">
              <a:buNone/>
            </a:pPr>
            <a:r>
              <a:rPr lang="en-US" sz="1300" b="1" dirty="0">
                <a:solidFill>
                  <a:srgbClr val="2FB3D6"/>
                </a:solidFill>
                <a:latin typeface="Calibri" pitchFamily="34" charset="0"/>
                <a:ea typeface="Calibri" pitchFamily="34" charset="-122"/>
                <a:cs typeface="Calibri" pitchFamily="34" charset="-120"/>
              </a:rPr>
              <a:t>What the data shows</a:t>
            </a:r>
            <a:endParaRPr lang="en-US" sz="1300" dirty="0"/>
          </a:p>
        </p:txBody>
      </p:sp>
      <p:sp>
        <p:nvSpPr>
          <p:cNvPr id="8" name="Text 5"/>
          <p:cNvSpPr/>
          <p:nvPr/>
        </p:nvSpPr>
        <p:spPr>
          <a:xfrm>
            <a:off x="8211312" y="2240280"/>
            <a:ext cx="3172968" cy="361188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Daily sessions hover around 70–90 through January, then break out from mid-February onward.</a:t>
            </a:r>
            <a:endParaRPr lang="en-US" sz="1250" dirty="0"/>
          </a:p>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By late March, daily sessions repeatedly spike above 250, peaking near 350.</a:t>
            </a:r>
            <a:endParaRPr lang="en-US" sz="1250" dirty="0"/>
          </a:p>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The growing spikes line up with marquee live events — engagement surges are event-driven, not just organic drift.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F2C14E"/>
                </a:solidFill>
                <a:latin typeface="Calibri" pitchFamily="34" charset="0"/>
                <a:ea typeface="Calibri" pitchFamily="34" charset="-122"/>
                <a:cs typeface="Calibri" pitchFamily="34" charset="-120"/>
              </a:rPr>
              <a:t>USAGE PATTERNS</a:t>
            </a:r>
            <a:endParaRPr lang="en-US" sz="125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Weekends Drive the Most Sessions</a:t>
            </a:r>
            <a:endParaRPr lang="en-US" sz="3000" dirty="0"/>
          </a:p>
        </p:txBody>
      </p:sp>
      <p:sp>
        <p:nvSpPr>
          <p:cNvPr id="4" name="Shape 2"/>
          <p:cNvSpPr/>
          <p:nvPr/>
        </p:nvSpPr>
        <p:spPr>
          <a:xfrm>
            <a:off x="548640" y="1600200"/>
            <a:ext cx="7178040" cy="4480560"/>
          </a:xfrm>
          <a:prstGeom prst="roundRect">
            <a:avLst>
              <a:gd name="adj" fmla="val 1633"/>
            </a:avLst>
          </a:prstGeom>
          <a:solidFill>
            <a:srgbClr val="141C2E"/>
          </a:solidFill>
          <a:ln w="12700">
            <a:solidFill>
              <a:srgbClr val="26314A"/>
            </a:solidFill>
            <a:prstDash val="solid"/>
          </a:ln>
        </p:spPr>
      </p:sp>
      <p:pic>
        <p:nvPicPr>
          <p:cNvPr id="5" name="Image 0" descr="/home/claude/brighttv/visualization__16_.png">    </p:cNvPr>
          <p:cNvPicPr>
            <a:picLocks noChangeAspect="1"/>
          </p:cNvPicPr>
          <p:nvPr/>
        </p:nvPicPr>
        <p:blipFill>
          <a:blip r:embed="rId1"/>
          <a:stretch>
            <a:fillRect/>
          </a:stretch>
        </p:blipFill>
        <p:spPr>
          <a:xfrm>
            <a:off x="804672" y="2827112"/>
            <a:ext cx="6665976" cy="2072455"/>
          </a:xfrm>
          <a:prstGeom prst="rect">
            <a:avLst/>
          </a:prstGeom>
        </p:spPr>
      </p:pic>
      <p:sp>
        <p:nvSpPr>
          <p:cNvPr id="6" name="Shape 3"/>
          <p:cNvSpPr/>
          <p:nvPr/>
        </p:nvSpPr>
        <p:spPr>
          <a:xfrm>
            <a:off x="7955280" y="1600200"/>
            <a:ext cx="3685032" cy="4480560"/>
          </a:xfrm>
          <a:prstGeom prst="roundRect">
            <a:avLst>
              <a:gd name="adj" fmla="val 1985"/>
            </a:avLst>
          </a:prstGeom>
          <a:solidFill>
            <a:srgbClr val="1B2540"/>
          </a:solidFill>
          <a:ln w="12700">
            <a:solidFill>
              <a:srgbClr val="26314A"/>
            </a:solidFill>
            <a:prstDash val="solid"/>
          </a:ln>
        </p:spPr>
      </p:sp>
      <p:sp>
        <p:nvSpPr>
          <p:cNvPr id="7" name="Text 4"/>
          <p:cNvSpPr/>
          <p:nvPr/>
        </p:nvSpPr>
        <p:spPr>
          <a:xfrm>
            <a:off x="8211312" y="1819656"/>
            <a:ext cx="3172968" cy="365760"/>
          </a:xfrm>
          <a:prstGeom prst="rect">
            <a:avLst/>
          </a:prstGeom>
          <a:noFill/>
          <a:ln/>
        </p:spPr>
        <p:txBody>
          <a:bodyPr wrap="square" lIns="0" tIns="0" rIns="0" bIns="0" rtlCol="0" anchor="ctr"/>
          <a:lstStyle/>
          <a:p>
            <a:pPr indent="0" marL="0">
              <a:buNone/>
            </a:pPr>
            <a:r>
              <a:rPr lang="en-US" sz="1300" b="1" dirty="0">
                <a:solidFill>
                  <a:srgbClr val="F2C14E"/>
                </a:solidFill>
                <a:latin typeface="Calibri" pitchFamily="34" charset="0"/>
                <a:ea typeface="Calibri" pitchFamily="34" charset="-122"/>
                <a:cs typeface="Calibri" pitchFamily="34" charset="-120"/>
              </a:rPr>
              <a:t>What the data shows</a:t>
            </a:r>
            <a:endParaRPr lang="en-US" sz="1300" dirty="0"/>
          </a:p>
        </p:txBody>
      </p:sp>
      <p:sp>
        <p:nvSpPr>
          <p:cNvPr id="8" name="Text 5"/>
          <p:cNvSpPr/>
          <p:nvPr/>
        </p:nvSpPr>
        <p:spPr>
          <a:xfrm>
            <a:off x="8211312" y="2240280"/>
            <a:ext cx="3172968" cy="310896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Saturday (~1,650) and Friday (~1,640) are the two highest days for total sessions.</a:t>
            </a:r>
            <a:endParaRPr lang="en-US" sz="1250" dirty="0"/>
          </a:p>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Monday is the clear low point (~970) — about 41% below Saturday.</a:t>
            </a:r>
            <a:endParaRPr lang="en-US" sz="1250" dirty="0"/>
          </a:p>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Tuesday (~1,320) is the second-weakest day, meaning consumption dips hardest at the start of the week.</a:t>
            </a:r>
            <a:endParaRPr lang="en-US" sz="1250" dirty="0"/>
          </a:p>
        </p:txBody>
      </p:sp>
      <p:sp>
        <p:nvSpPr>
          <p:cNvPr id="9" name="Shape 6"/>
          <p:cNvSpPr/>
          <p:nvPr/>
        </p:nvSpPr>
        <p:spPr>
          <a:xfrm>
            <a:off x="8211312" y="5166360"/>
            <a:ext cx="3172968" cy="0"/>
          </a:xfrm>
          <a:prstGeom prst="line">
            <a:avLst/>
          </a:prstGeom>
          <a:noFill/>
          <a:ln w="12700">
            <a:solidFill>
              <a:srgbClr val="26314A"/>
            </a:solidFill>
            <a:prstDash val="solid"/>
          </a:ln>
        </p:spPr>
      </p:sp>
      <p:sp>
        <p:nvSpPr>
          <p:cNvPr id="10" name="Text 7"/>
          <p:cNvSpPr/>
          <p:nvPr/>
        </p:nvSpPr>
        <p:spPr>
          <a:xfrm>
            <a:off x="8211312" y="5257800"/>
            <a:ext cx="3172968" cy="457200"/>
          </a:xfrm>
          <a:prstGeom prst="rect">
            <a:avLst/>
          </a:prstGeom>
          <a:noFill/>
          <a:ln/>
        </p:spPr>
        <p:txBody>
          <a:bodyPr wrap="square" lIns="0" tIns="0" rIns="0" bIns="0" rtlCol="0" anchor="ctr"/>
          <a:lstStyle/>
          <a:p>
            <a:pPr indent="0" marL="0">
              <a:buNone/>
            </a:pPr>
            <a:r>
              <a:rPr lang="en-US" sz="2600" b="1" dirty="0">
                <a:solidFill>
                  <a:srgbClr val="F2C14E"/>
                </a:solidFill>
                <a:latin typeface="Cambria" pitchFamily="34" charset="0"/>
                <a:ea typeface="Cambria" pitchFamily="34" charset="-122"/>
                <a:cs typeface="Cambria" pitchFamily="34" charset="-120"/>
              </a:rPr>
              <a:t>-41%</a:t>
            </a:r>
            <a:endParaRPr lang="en-US" sz="2600" dirty="0"/>
          </a:p>
        </p:txBody>
      </p:sp>
      <p:sp>
        <p:nvSpPr>
          <p:cNvPr id="11" name="Text 8"/>
          <p:cNvSpPr/>
          <p:nvPr/>
        </p:nvSpPr>
        <p:spPr>
          <a:xfrm>
            <a:off x="8211312" y="5696712"/>
            <a:ext cx="3172968" cy="274320"/>
          </a:xfrm>
          <a:prstGeom prst="rect">
            <a:avLst/>
          </a:prstGeom>
          <a:noFill/>
          <a:ln/>
        </p:spPr>
        <p:txBody>
          <a:bodyPr wrap="square" lIns="0" tIns="0" rIns="0" bIns="0" rtlCol="0" anchor="ctr"/>
          <a:lstStyle/>
          <a:p>
            <a:pPr indent="0" marL="0">
              <a:buNone/>
            </a:pPr>
            <a:r>
              <a:rPr lang="en-US" sz="1050" dirty="0">
                <a:solidFill>
                  <a:srgbClr val="9AAEC7"/>
                </a:solidFill>
                <a:latin typeface="Calibri" pitchFamily="34" charset="0"/>
                <a:ea typeface="Calibri" pitchFamily="34" charset="-122"/>
                <a:cs typeface="Calibri" pitchFamily="34" charset="-120"/>
              </a:rPr>
              <a:t>Monday sessions vs. Saturday peak</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F2C14E"/>
                </a:solidFill>
                <a:latin typeface="Calibri" pitchFamily="34" charset="0"/>
                <a:ea typeface="Calibri" pitchFamily="34" charset="-122"/>
                <a:cs typeface="Calibri" pitchFamily="34" charset="-120"/>
              </a:rPr>
              <a:t>USAGE PATTERNS</a:t>
            </a:r>
            <a:endParaRPr lang="en-US" sz="125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Viewing Peaks From Mid-Morning to Early Evening</a:t>
            </a:r>
            <a:endParaRPr lang="en-US" sz="3000" dirty="0"/>
          </a:p>
        </p:txBody>
      </p:sp>
      <p:sp>
        <p:nvSpPr>
          <p:cNvPr id="4" name="Shape 2"/>
          <p:cNvSpPr/>
          <p:nvPr/>
        </p:nvSpPr>
        <p:spPr>
          <a:xfrm>
            <a:off x="548640" y="1600200"/>
            <a:ext cx="7178040" cy="4480560"/>
          </a:xfrm>
          <a:prstGeom prst="roundRect">
            <a:avLst>
              <a:gd name="adj" fmla="val 1633"/>
            </a:avLst>
          </a:prstGeom>
          <a:solidFill>
            <a:srgbClr val="141C2E"/>
          </a:solidFill>
          <a:ln w="12700">
            <a:solidFill>
              <a:srgbClr val="26314A"/>
            </a:solidFill>
            <a:prstDash val="solid"/>
          </a:ln>
        </p:spPr>
      </p:sp>
      <p:pic>
        <p:nvPicPr>
          <p:cNvPr id="5" name="Image 0" descr="/home/claude/brighttv/visualization__17_.png">    </p:cNvPr>
          <p:cNvPicPr>
            <a:picLocks noChangeAspect="1"/>
          </p:cNvPicPr>
          <p:nvPr/>
        </p:nvPicPr>
        <p:blipFill>
          <a:blip r:embed="rId1"/>
          <a:stretch>
            <a:fillRect/>
          </a:stretch>
        </p:blipFill>
        <p:spPr>
          <a:xfrm>
            <a:off x="804672" y="2827112"/>
            <a:ext cx="6665976" cy="2072455"/>
          </a:xfrm>
          <a:prstGeom prst="rect">
            <a:avLst/>
          </a:prstGeom>
        </p:spPr>
      </p:pic>
      <p:sp>
        <p:nvSpPr>
          <p:cNvPr id="6" name="Shape 3"/>
          <p:cNvSpPr/>
          <p:nvPr/>
        </p:nvSpPr>
        <p:spPr>
          <a:xfrm>
            <a:off x="7955280" y="1600200"/>
            <a:ext cx="3685032" cy="4480560"/>
          </a:xfrm>
          <a:prstGeom prst="roundRect">
            <a:avLst>
              <a:gd name="adj" fmla="val 1985"/>
            </a:avLst>
          </a:prstGeom>
          <a:solidFill>
            <a:srgbClr val="1B2540"/>
          </a:solidFill>
          <a:ln w="12700">
            <a:solidFill>
              <a:srgbClr val="26314A"/>
            </a:solidFill>
            <a:prstDash val="solid"/>
          </a:ln>
        </p:spPr>
      </p:sp>
      <p:sp>
        <p:nvSpPr>
          <p:cNvPr id="7" name="Text 4"/>
          <p:cNvSpPr/>
          <p:nvPr/>
        </p:nvSpPr>
        <p:spPr>
          <a:xfrm>
            <a:off x="8211312" y="1819656"/>
            <a:ext cx="3172968" cy="365760"/>
          </a:xfrm>
          <a:prstGeom prst="rect">
            <a:avLst/>
          </a:prstGeom>
          <a:noFill/>
          <a:ln/>
        </p:spPr>
        <p:txBody>
          <a:bodyPr wrap="square" lIns="0" tIns="0" rIns="0" bIns="0" rtlCol="0" anchor="ctr"/>
          <a:lstStyle/>
          <a:p>
            <a:pPr indent="0" marL="0">
              <a:buNone/>
            </a:pPr>
            <a:r>
              <a:rPr lang="en-US" sz="1300" b="1" dirty="0">
                <a:solidFill>
                  <a:srgbClr val="F2C14E"/>
                </a:solidFill>
                <a:latin typeface="Calibri" pitchFamily="34" charset="0"/>
                <a:ea typeface="Calibri" pitchFamily="34" charset="-122"/>
                <a:cs typeface="Calibri" pitchFamily="34" charset="-120"/>
              </a:rPr>
              <a:t>What the data shows</a:t>
            </a:r>
            <a:endParaRPr lang="en-US" sz="1300" dirty="0"/>
          </a:p>
        </p:txBody>
      </p:sp>
      <p:sp>
        <p:nvSpPr>
          <p:cNvPr id="8" name="Text 5"/>
          <p:cNvSpPr/>
          <p:nvPr/>
        </p:nvSpPr>
        <p:spPr>
          <a:xfrm>
            <a:off x="8211312" y="2240280"/>
            <a:ext cx="3172968" cy="361188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Sessions are lowest overnight (00:00–06:00), then climb steadily from 06:00.</a:t>
            </a:r>
            <a:endParaRPr lang="en-US" sz="1250" dirty="0"/>
          </a:p>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A wide plateau of ~600–650 sessions runs from about 10:00 to 18:00.</a:t>
            </a:r>
            <a:endParaRPr lang="en-US" sz="1250" dirty="0"/>
          </a:p>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Sessions fall sharply after 19:00, back down to overnight lows by 23:00 — a shorter prime-time window than typical linear TV.</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E6635A"/>
                </a:solidFill>
                <a:latin typeface="Calibri" pitchFamily="34" charset="0"/>
                <a:ea typeface="Calibri" pitchFamily="34" charset="-122"/>
                <a:cs typeface="Calibri" pitchFamily="34" charset="-120"/>
              </a:rPr>
              <a:t>CONTENT</a:t>
            </a:r>
            <a:endParaRPr lang="en-US" sz="125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Live Sport Dominates Content Consumption</a:t>
            </a:r>
            <a:endParaRPr lang="en-US" sz="3000" dirty="0"/>
          </a:p>
        </p:txBody>
      </p:sp>
      <p:sp>
        <p:nvSpPr>
          <p:cNvPr id="4" name="Shape 2"/>
          <p:cNvSpPr/>
          <p:nvPr/>
        </p:nvSpPr>
        <p:spPr>
          <a:xfrm>
            <a:off x="548640" y="1600200"/>
            <a:ext cx="7178040" cy="4480560"/>
          </a:xfrm>
          <a:prstGeom prst="roundRect">
            <a:avLst>
              <a:gd name="adj" fmla="val 1633"/>
            </a:avLst>
          </a:prstGeom>
          <a:solidFill>
            <a:srgbClr val="141C2E"/>
          </a:solidFill>
          <a:ln w="12700">
            <a:solidFill>
              <a:srgbClr val="26314A"/>
            </a:solidFill>
            <a:prstDash val="solid"/>
          </a:ln>
        </p:spPr>
      </p:sp>
      <p:pic>
        <p:nvPicPr>
          <p:cNvPr id="5" name="Image 0" descr="/home/claude/brighttv/visualization__18_.png">    </p:cNvPr>
          <p:cNvPicPr>
            <a:picLocks noChangeAspect="1"/>
          </p:cNvPicPr>
          <p:nvPr/>
        </p:nvPicPr>
        <p:blipFill>
          <a:blip r:embed="rId1"/>
          <a:stretch>
            <a:fillRect/>
          </a:stretch>
        </p:blipFill>
        <p:spPr>
          <a:xfrm>
            <a:off x="804672" y="2827112"/>
            <a:ext cx="6665976" cy="2072455"/>
          </a:xfrm>
          <a:prstGeom prst="rect">
            <a:avLst/>
          </a:prstGeom>
        </p:spPr>
      </p:pic>
      <p:sp>
        <p:nvSpPr>
          <p:cNvPr id="6" name="Shape 3"/>
          <p:cNvSpPr/>
          <p:nvPr/>
        </p:nvSpPr>
        <p:spPr>
          <a:xfrm>
            <a:off x="7955280" y="1600200"/>
            <a:ext cx="3685032" cy="4480560"/>
          </a:xfrm>
          <a:prstGeom prst="roundRect">
            <a:avLst>
              <a:gd name="adj" fmla="val 1985"/>
            </a:avLst>
          </a:prstGeom>
          <a:solidFill>
            <a:srgbClr val="1B2540"/>
          </a:solidFill>
          <a:ln w="12700">
            <a:solidFill>
              <a:srgbClr val="26314A"/>
            </a:solidFill>
            <a:prstDash val="solid"/>
          </a:ln>
        </p:spPr>
      </p:sp>
      <p:sp>
        <p:nvSpPr>
          <p:cNvPr id="7" name="Text 4"/>
          <p:cNvSpPr/>
          <p:nvPr/>
        </p:nvSpPr>
        <p:spPr>
          <a:xfrm>
            <a:off x="8211312" y="1819656"/>
            <a:ext cx="3172968" cy="365760"/>
          </a:xfrm>
          <a:prstGeom prst="rect">
            <a:avLst/>
          </a:prstGeom>
          <a:noFill/>
          <a:ln/>
        </p:spPr>
        <p:txBody>
          <a:bodyPr wrap="square" lIns="0" tIns="0" rIns="0" bIns="0" rtlCol="0" anchor="ctr"/>
          <a:lstStyle/>
          <a:p>
            <a:pPr indent="0" marL="0">
              <a:buNone/>
            </a:pPr>
            <a:r>
              <a:rPr lang="en-US" sz="1300" b="1" dirty="0">
                <a:solidFill>
                  <a:srgbClr val="E6635A"/>
                </a:solidFill>
                <a:latin typeface="Calibri" pitchFamily="34" charset="0"/>
                <a:ea typeface="Calibri" pitchFamily="34" charset="-122"/>
                <a:cs typeface="Calibri" pitchFamily="34" charset="-120"/>
              </a:rPr>
              <a:t>What the data shows</a:t>
            </a:r>
            <a:endParaRPr lang="en-US" sz="1300" dirty="0"/>
          </a:p>
        </p:txBody>
      </p:sp>
      <p:sp>
        <p:nvSpPr>
          <p:cNvPr id="8" name="Text 5"/>
          <p:cNvSpPr/>
          <p:nvPr/>
        </p:nvSpPr>
        <p:spPr>
          <a:xfrm>
            <a:off x="8211312" y="2240280"/>
            <a:ext cx="3172968" cy="361188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Supersport Live Events (~1,650) and ICC Cricket World Cup 2011 (~1,460) are the top two channels by a wide margin.</a:t>
            </a:r>
            <a:endParaRPr lang="en-US" sz="1250" dirty="0"/>
          </a:p>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Channel O, Trace TV, SuperSport Blitz and Africa Magic form a strong second tier (~800–1,050 sessions).</a:t>
            </a:r>
            <a:endParaRPr lang="en-US" sz="1250" dirty="0"/>
          </a:p>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Niche and single-event channels (Wimbledon, kykNET, M-Net) contribute very little — consumption is concentrated in a handful of live/event and music-entertainment brands.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3FC28A"/>
                </a:solidFill>
                <a:latin typeface="Calibri" pitchFamily="34" charset="0"/>
                <a:ea typeface="Calibri" pitchFamily="34" charset="-122"/>
                <a:cs typeface="Calibri" pitchFamily="34" charset="-120"/>
              </a:rPr>
              <a:t>AUDIENCE</a:t>
            </a:r>
            <a:endParaRPr lang="en-US" sz="125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Youth Viewers Generate the Majority of Views</a:t>
            </a:r>
            <a:endParaRPr lang="en-US" sz="3000" dirty="0"/>
          </a:p>
        </p:txBody>
      </p:sp>
      <p:sp>
        <p:nvSpPr>
          <p:cNvPr id="4" name="Shape 2"/>
          <p:cNvSpPr/>
          <p:nvPr/>
        </p:nvSpPr>
        <p:spPr>
          <a:xfrm>
            <a:off x="548640" y="1600200"/>
            <a:ext cx="7178040" cy="4480560"/>
          </a:xfrm>
          <a:prstGeom prst="roundRect">
            <a:avLst>
              <a:gd name="adj" fmla="val 1633"/>
            </a:avLst>
          </a:prstGeom>
          <a:solidFill>
            <a:srgbClr val="141C2E"/>
          </a:solidFill>
          <a:ln w="12700">
            <a:solidFill>
              <a:srgbClr val="26314A"/>
            </a:solidFill>
            <a:prstDash val="solid"/>
          </a:ln>
        </p:spPr>
      </p:sp>
      <p:pic>
        <p:nvPicPr>
          <p:cNvPr id="5" name="Image 0" descr="/home/claude/brighttv/visualization__19_.png">    </p:cNvPr>
          <p:cNvPicPr>
            <a:picLocks noChangeAspect="1"/>
          </p:cNvPicPr>
          <p:nvPr/>
        </p:nvPicPr>
        <p:blipFill>
          <a:blip r:embed="rId1"/>
          <a:stretch>
            <a:fillRect/>
          </a:stretch>
        </p:blipFill>
        <p:spPr>
          <a:xfrm>
            <a:off x="804672" y="2827112"/>
            <a:ext cx="6665976" cy="2072455"/>
          </a:xfrm>
          <a:prstGeom prst="rect">
            <a:avLst/>
          </a:prstGeom>
        </p:spPr>
      </p:pic>
      <p:sp>
        <p:nvSpPr>
          <p:cNvPr id="6" name="Shape 3"/>
          <p:cNvSpPr/>
          <p:nvPr/>
        </p:nvSpPr>
        <p:spPr>
          <a:xfrm>
            <a:off x="7955280" y="1600200"/>
            <a:ext cx="3685032" cy="4480560"/>
          </a:xfrm>
          <a:prstGeom prst="roundRect">
            <a:avLst>
              <a:gd name="adj" fmla="val 1985"/>
            </a:avLst>
          </a:prstGeom>
          <a:solidFill>
            <a:srgbClr val="1B2540"/>
          </a:solidFill>
          <a:ln w="12700">
            <a:solidFill>
              <a:srgbClr val="26314A"/>
            </a:solidFill>
            <a:prstDash val="solid"/>
          </a:ln>
        </p:spPr>
      </p:sp>
      <p:sp>
        <p:nvSpPr>
          <p:cNvPr id="7" name="Text 4"/>
          <p:cNvSpPr/>
          <p:nvPr/>
        </p:nvSpPr>
        <p:spPr>
          <a:xfrm>
            <a:off x="8211312" y="1819656"/>
            <a:ext cx="3172968" cy="365760"/>
          </a:xfrm>
          <a:prstGeom prst="rect">
            <a:avLst/>
          </a:prstGeom>
          <a:noFill/>
          <a:ln/>
        </p:spPr>
        <p:txBody>
          <a:bodyPr wrap="square" lIns="0" tIns="0" rIns="0" bIns="0" rtlCol="0" anchor="ctr"/>
          <a:lstStyle/>
          <a:p>
            <a:pPr indent="0" marL="0">
              <a:buNone/>
            </a:pPr>
            <a:r>
              <a:rPr lang="en-US" sz="1300" b="1" dirty="0">
                <a:solidFill>
                  <a:srgbClr val="3FC28A"/>
                </a:solidFill>
                <a:latin typeface="Calibri" pitchFamily="34" charset="0"/>
                <a:ea typeface="Calibri" pitchFamily="34" charset="-122"/>
                <a:cs typeface="Calibri" pitchFamily="34" charset="-120"/>
              </a:rPr>
              <a:t>What the data shows</a:t>
            </a:r>
            <a:endParaRPr lang="en-US" sz="1300" dirty="0"/>
          </a:p>
        </p:txBody>
      </p:sp>
      <p:sp>
        <p:nvSpPr>
          <p:cNvPr id="8" name="Text 5"/>
          <p:cNvSpPr/>
          <p:nvPr/>
        </p:nvSpPr>
        <p:spPr>
          <a:xfrm>
            <a:off x="8211312" y="2240280"/>
            <a:ext cx="3172968" cy="310896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The YOUTH segment accounts for roughly 60% of total views (~6,000), more than adult, young and senior combined.</a:t>
            </a:r>
            <a:endParaRPr lang="en-US" sz="1250" dirty="0"/>
          </a:p>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ADULT is the second segment at ~3,400 views (~34%).</a:t>
            </a:r>
            <a:endParaRPr lang="en-US" sz="1250" dirty="0"/>
          </a:p>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YOUNG and SENIOR together make up under 6% of viewing — a largely untapped part of the base.</a:t>
            </a:r>
            <a:endParaRPr lang="en-US" sz="1250" dirty="0"/>
          </a:p>
        </p:txBody>
      </p:sp>
      <p:sp>
        <p:nvSpPr>
          <p:cNvPr id="9" name="Shape 6"/>
          <p:cNvSpPr/>
          <p:nvPr/>
        </p:nvSpPr>
        <p:spPr>
          <a:xfrm>
            <a:off x="8211312" y="5166360"/>
            <a:ext cx="3172968" cy="0"/>
          </a:xfrm>
          <a:prstGeom prst="line">
            <a:avLst/>
          </a:prstGeom>
          <a:noFill/>
          <a:ln w="12700">
            <a:solidFill>
              <a:srgbClr val="26314A"/>
            </a:solidFill>
            <a:prstDash val="solid"/>
          </a:ln>
        </p:spPr>
      </p:sp>
      <p:sp>
        <p:nvSpPr>
          <p:cNvPr id="10" name="Text 7"/>
          <p:cNvSpPr/>
          <p:nvPr/>
        </p:nvSpPr>
        <p:spPr>
          <a:xfrm>
            <a:off x="8211312" y="5257800"/>
            <a:ext cx="3172968" cy="457200"/>
          </a:xfrm>
          <a:prstGeom prst="rect">
            <a:avLst/>
          </a:prstGeom>
          <a:noFill/>
          <a:ln/>
        </p:spPr>
        <p:txBody>
          <a:bodyPr wrap="square" lIns="0" tIns="0" rIns="0" bIns="0" rtlCol="0" anchor="ctr"/>
          <a:lstStyle/>
          <a:p>
            <a:pPr indent="0" marL="0">
              <a:buNone/>
            </a:pPr>
            <a:r>
              <a:rPr lang="en-US" sz="2600" b="1" dirty="0">
                <a:solidFill>
                  <a:srgbClr val="F2C14E"/>
                </a:solidFill>
                <a:latin typeface="Cambria" pitchFamily="34" charset="0"/>
                <a:ea typeface="Cambria" pitchFamily="34" charset="-122"/>
                <a:cs typeface="Cambria" pitchFamily="34" charset="-120"/>
              </a:rPr>
              <a:t>~60%</a:t>
            </a:r>
            <a:endParaRPr lang="en-US" sz="2600" dirty="0"/>
          </a:p>
        </p:txBody>
      </p:sp>
      <p:sp>
        <p:nvSpPr>
          <p:cNvPr id="11" name="Text 8"/>
          <p:cNvSpPr/>
          <p:nvPr/>
        </p:nvSpPr>
        <p:spPr>
          <a:xfrm>
            <a:off x="8211312" y="5696712"/>
            <a:ext cx="3172968" cy="274320"/>
          </a:xfrm>
          <a:prstGeom prst="rect">
            <a:avLst/>
          </a:prstGeom>
          <a:noFill/>
          <a:ln/>
        </p:spPr>
        <p:txBody>
          <a:bodyPr wrap="square" lIns="0" tIns="0" rIns="0" bIns="0" rtlCol="0" anchor="ctr"/>
          <a:lstStyle/>
          <a:p>
            <a:pPr indent="0" marL="0">
              <a:buNone/>
            </a:pPr>
            <a:r>
              <a:rPr lang="en-US" sz="1050" dirty="0">
                <a:solidFill>
                  <a:srgbClr val="9AAEC7"/>
                </a:solidFill>
                <a:latin typeface="Calibri" pitchFamily="34" charset="0"/>
                <a:ea typeface="Calibri" pitchFamily="34" charset="-122"/>
                <a:cs typeface="Calibri" pitchFamily="34" charset="-120"/>
              </a:rPr>
              <a:t>Share of total views from Youth</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3FC28A"/>
                </a:solidFill>
                <a:latin typeface="Calibri" pitchFamily="34" charset="0"/>
                <a:ea typeface="Calibri" pitchFamily="34" charset="-122"/>
                <a:cs typeface="Calibri" pitchFamily="34" charset="-120"/>
              </a:rPr>
              <a:t>AUDIENCE</a:t>
            </a:r>
            <a:endParaRPr lang="en-US" sz="125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Male Viewership Leads Across Every Race Group</a:t>
            </a:r>
            <a:endParaRPr lang="en-US" sz="3000" dirty="0"/>
          </a:p>
        </p:txBody>
      </p:sp>
      <p:sp>
        <p:nvSpPr>
          <p:cNvPr id="4" name="Shape 2"/>
          <p:cNvSpPr/>
          <p:nvPr/>
        </p:nvSpPr>
        <p:spPr>
          <a:xfrm>
            <a:off x="548640" y="1600200"/>
            <a:ext cx="7178040" cy="4480560"/>
          </a:xfrm>
          <a:prstGeom prst="roundRect">
            <a:avLst>
              <a:gd name="adj" fmla="val 1633"/>
            </a:avLst>
          </a:prstGeom>
          <a:solidFill>
            <a:srgbClr val="141C2E"/>
          </a:solidFill>
          <a:ln w="12700">
            <a:solidFill>
              <a:srgbClr val="26314A"/>
            </a:solidFill>
            <a:prstDash val="solid"/>
          </a:ln>
        </p:spPr>
      </p:sp>
      <p:pic>
        <p:nvPicPr>
          <p:cNvPr id="5" name="Image 0" descr="/home/claude/brighttv/visualization__20_.png">    </p:cNvPr>
          <p:cNvPicPr>
            <a:picLocks noChangeAspect="1"/>
          </p:cNvPicPr>
          <p:nvPr/>
        </p:nvPicPr>
        <p:blipFill>
          <a:blip r:embed="rId1"/>
          <a:stretch>
            <a:fillRect/>
          </a:stretch>
        </p:blipFill>
        <p:spPr>
          <a:xfrm>
            <a:off x="804672" y="2827112"/>
            <a:ext cx="6665976" cy="2072455"/>
          </a:xfrm>
          <a:prstGeom prst="rect">
            <a:avLst/>
          </a:prstGeom>
        </p:spPr>
      </p:pic>
      <p:sp>
        <p:nvSpPr>
          <p:cNvPr id="6" name="Shape 3"/>
          <p:cNvSpPr/>
          <p:nvPr/>
        </p:nvSpPr>
        <p:spPr>
          <a:xfrm>
            <a:off x="7955280" y="1600200"/>
            <a:ext cx="3685032" cy="4480560"/>
          </a:xfrm>
          <a:prstGeom prst="roundRect">
            <a:avLst>
              <a:gd name="adj" fmla="val 1985"/>
            </a:avLst>
          </a:prstGeom>
          <a:solidFill>
            <a:srgbClr val="1B2540"/>
          </a:solidFill>
          <a:ln w="12700">
            <a:solidFill>
              <a:srgbClr val="26314A"/>
            </a:solidFill>
            <a:prstDash val="solid"/>
          </a:ln>
        </p:spPr>
      </p:sp>
      <p:sp>
        <p:nvSpPr>
          <p:cNvPr id="7" name="Text 4"/>
          <p:cNvSpPr/>
          <p:nvPr/>
        </p:nvSpPr>
        <p:spPr>
          <a:xfrm>
            <a:off x="8211312" y="1819656"/>
            <a:ext cx="3172968" cy="365760"/>
          </a:xfrm>
          <a:prstGeom prst="rect">
            <a:avLst/>
          </a:prstGeom>
          <a:noFill/>
          <a:ln/>
        </p:spPr>
        <p:txBody>
          <a:bodyPr wrap="square" lIns="0" tIns="0" rIns="0" bIns="0" rtlCol="0" anchor="ctr"/>
          <a:lstStyle/>
          <a:p>
            <a:pPr indent="0" marL="0">
              <a:buNone/>
            </a:pPr>
            <a:r>
              <a:rPr lang="en-US" sz="1300" b="1" dirty="0">
                <a:solidFill>
                  <a:srgbClr val="3FC28A"/>
                </a:solidFill>
                <a:latin typeface="Calibri" pitchFamily="34" charset="0"/>
                <a:ea typeface="Calibri" pitchFamily="34" charset="-122"/>
                <a:cs typeface="Calibri" pitchFamily="34" charset="-120"/>
              </a:rPr>
              <a:t>What the data shows</a:t>
            </a:r>
            <a:endParaRPr lang="en-US" sz="1300" dirty="0"/>
          </a:p>
        </p:txBody>
      </p:sp>
      <p:sp>
        <p:nvSpPr>
          <p:cNvPr id="8" name="Text 5"/>
          <p:cNvSpPr/>
          <p:nvPr/>
        </p:nvSpPr>
        <p:spPr>
          <a:xfrm>
            <a:off x="8211312" y="2240280"/>
            <a:ext cx="3172968" cy="361188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Black viewers are the largest audience segment, ahead of White, Indian/Asian and Coloured viewers.</a:t>
            </a:r>
            <a:endParaRPr lang="en-US" sz="1250" dirty="0"/>
          </a:p>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In every race group, male viewing (green) is substantially larger than female viewing (orange).</a:t>
            </a:r>
            <a:endParaRPr lang="en-US" sz="1250" dirty="0"/>
          </a:p>
          <a:p>
            <a:pPr marL="177800" indent="-177800">
              <a:lnSpc>
                <a:spcPct val="112000"/>
              </a:lnSpc>
              <a:spcAft>
                <a:spcPts val="1000"/>
              </a:spcAft>
              <a:buSzPct val="100000"/>
              <a:buChar char="•"/>
            </a:pPr>
            <a:r>
              <a:rPr lang="en-US" sz="1250" dirty="0">
                <a:solidFill>
                  <a:srgbClr val="F5F7FA"/>
                </a:solidFill>
                <a:latin typeface="Calibri" pitchFamily="34" charset="0"/>
                <a:ea typeface="Calibri" pitchFamily="34" charset="-122"/>
                <a:cs typeface="Calibri" pitchFamily="34" charset="-120"/>
              </a:rPr>
              <a:t>Female viewership is proportionally most visible among Black and White audiences, but remains a minority everywhere — a clear growth pocket.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9418320" y="-2194560"/>
            <a:ext cx="5943600" cy="5943600"/>
          </a:xfrm>
          <a:prstGeom prst="ellipse">
            <a:avLst/>
          </a:prstGeom>
          <a:solidFill>
            <a:srgbClr val="10192B"/>
          </a:solidFill>
          <a:ln/>
        </p:spPr>
      </p:sp>
      <p:sp>
        <p:nvSpPr>
          <p:cNvPr id="3" name="Text 1"/>
          <p:cNvSpPr/>
          <p:nvPr/>
        </p:nvSpPr>
        <p:spPr>
          <a:xfrm>
            <a:off x="777240" y="2331720"/>
            <a:ext cx="2743200" cy="1188720"/>
          </a:xfrm>
          <a:prstGeom prst="rect">
            <a:avLst/>
          </a:prstGeom>
          <a:noFill/>
          <a:ln/>
        </p:spPr>
        <p:txBody>
          <a:bodyPr wrap="square" lIns="0" tIns="0" rIns="0" bIns="0" rtlCol="0" anchor="ctr"/>
          <a:lstStyle/>
          <a:p>
            <a:pPr indent="0" marL="0">
              <a:buNone/>
            </a:pPr>
            <a:r>
              <a:rPr lang="en-US" sz="6000" b="1" dirty="0">
                <a:solidFill>
                  <a:srgbClr val="20304F"/>
                </a:solidFill>
                <a:latin typeface="Cambria" pitchFamily="34" charset="0"/>
                <a:ea typeface="Cambria" pitchFamily="34" charset="-122"/>
                <a:cs typeface="Cambria" pitchFamily="34" charset="-120"/>
              </a:rPr>
              <a:t>02</a:t>
            </a:r>
            <a:endParaRPr lang="en-US" sz="6000" dirty="0"/>
          </a:p>
        </p:txBody>
      </p:sp>
      <p:sp>
        <p:nvSpPr>
          <p:cNvPr id="4" name="Text 2"/>
          <p:cNvSpPr/>
          <p:nvPr/>
        </p:nvSpPr>
        <p:spPr>
          <a:xfrm>
            <a:off x="822960" y="3246120"/>
            <a:ext cx="7315200" cy="365760"/>
          </a:xfrm>
          <a:prstGeom prst="rect">
            <a:avLst/>
          </a:prstGeom>
          <a:noFill/>
          <a:ln/>
        </p:spPr>
        <p:txBody>
          <a:bodyPr wrap="square" lIns="0" tIns="0" rIns="0" bIns="0" rtlCol="0" anchor="ctr"/>
          <a:lstStyle/>
          <a:p>
            <a:pPr indent="0" marL="0">
              <a:buNone/>
            </a:pPr>
            <a:r>
              <a:rPr lang="en-US" sz="1300" b="1" spc="200" kern="0" dirty="0">
                <a:solidFill>
                  <a:srgbClr val="E6635A"/>
                </a:solidFill>
                <a:latin typeface="Calibri" pitchFamily="34" charset="0"/>
                <a:ea typeface="Calibri" pitchFamily="34" charset="-122"/>
                <a:cs typeface="Calibri" pitchFamily="34" charset="-120"/>
              </a:rPr>
              <a:t>SECTION TWO</a:t>
            </a:r>
            <a:endParaRPr lang="en-US" sz="1300" dirty="0"/>
          </a:p>
        </p:txBody>
      </p:sp>
      <p:sp>
        <p:nvSpPr>
          <p:cNvPr id="5" name="Text 3"/>
          <p:cNvSpPr/>
          <p:nvPr/>
        </p:nvSpPr>
        <p:spPr>
          <a:xfrm>
            <a:off x="777240" y="3566160"/>
            <a:ext cx="9601200" cy="1005840"/>
          </a:xfrm>
          <a:prstGeom prst="rect">
            <a:avLst/>
          </a:prstGeom>
          <a:noFill/>
          <a:ln/>
        </p:spPr>
        <p:txBody>
          <a:bodyPr wrap="square" lIns="0" tIns="0" rIns="0" bIns="0" rtlCol="0" anchor="ctr"/>
          <a:lstStyle/>
          <a:p>
            <a:pPr indent="0" marL="0">
              <a:buNone/>
            </a:pPr>
            <a:r>
              <a:rPr lang="en-US" sz="3600" b="1" dirty="0">
                <a:solidFill>
                  <a:srgbClr val="F5F7FA"/>
                </a:solidFill>
                <a:latin typeface="Cambria" pitchFamily="34" charset="0"/>
                <a:ea typeface="Cambria" pitchFamily="34" charset="-122"/>
                <a:cs typeface="Cambria" pitchFamily="34" charset="-120"/>
              </a:rPr>
              <a:t>What Drives Consumption</a:t>
            </a:r>
            <a:endParaRPr lang="en-US" sz="3600" dirty="0"/>
          </a:p>
        </p:txBody>
      </p:sp>
      <p:sp>
        <p:nvSpPr>
          <p:cNvPr id="6" name="Text 4"/>
          <p:cNvSpPr/>
          <p:nvPr/>
        </p:nvSpPr>
        <p:spPr>
          <a:xfrm>
            <a:off x="822960" y="4434840"/>
            <a:ext cx="8686800" cy="548640"/>
          </a:xfrm>
          <a:prstGeom prst="rect">
            <a:avLst/>
          </a:prstGeom>
          <a:noFill/>
          <a:ln/>
        </p:spPr>
        <p:txBody>
          <a:bodyPr wrap="square" lIns="0" tIns="0" rIns="0" bIns="0" rtlCol="0" anchor="ctr"/>
          <a:lstStyle/>
          <a:p>
            <a:pPr indent="0" marL="0">
              <a:buNone/>
            </a:pPr>
            <a:r>
              <a:rPr lang="en-US" sz="1400" i="1" dirty="0">
                <a:solidFill>
                  <a:srgbClr val="9AAEC7"/>
                </a:solidFill>
                <a:latin typeface="Calibri" pitchFamily="34" charset="0"/>
                <a:ea typeface="Calibri" pitchFamily="34" charset="-122"/>
                <a:cs typeface="Calibri" pitchFamily="34" charset="-120"/>
              </a:rPr>
              <a:t>Reading the trends together to find the real levers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E6635A"/>
                </a:solidFill>
                <a:latin typeface="Calibri" pitchFamily="34" charset="0"/>
                <a:ea typeface="Calibri" pitchFamily="34" charset="-122"/>
                <a:cs typeface="Calibri" pitchFamily="34" charset="-120"/>
              </a:rPr>
              <a:t>SYNTHESIS</a:t>
            </a:r>
            <a:endParaRPr lang="en-US" sz="125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Four Factors Shape When and What People Watch</a:t>
            </a:r>
            <a:endParaRPr lang="en-US" sz="3000" dirty="0"/>
          </a:p>
        </p:txBody>
      </p:sp>
      <p:sp>
        <p:nvSpPr>
          <p:cNvPr id="4" name="Shape 2"/>
          <p:cNvSpPr/>
          <p:nvPr/>
        </p:nvSpPr>
        <p:spPr>
          <a:xfrm>
            <a:off x="548640" y="1691640"/>
            <a:ext cx="5394960" cy="2011680"/>
          </a:xfrm>
          <a:prstGeom prst="roundRect">
            <a:avLst>
              <a:gd name="adj" fmla="val 3636"/>
            </a:avLst>
          </a:prstGeom>
          <a:solidFill>
            <a:srgbClr val="141C2E"/>
          </a:solidFill>
          <a:ln w="12700">
            <a:solidFill>
              <a:srgbClr val="26314A"/>
            </a:solidFill>
            <a:prstDash val="solid"/>
          </a:ln>
        </p:spPr>
      </p:sp>
      <p:sp>
        <p:nvSpPr>
          <p:cNvPr id="5" name="Shape 3"/>
          <p:cNvSpPr/>
          <p:nvPr/>
        </p:nvSpPr>
        <p:spPr>
          <a:xfrm>
            <a:off x="822960" y="1947672"/>
            <a:ext cx="457200" cy="457200"/>
          </a:xfrm>
          <a:prstGeom prst="ellipse">
            <a:avLst/>
          </a:prstGeom>
          <a:solidFill>
            <a:srgbClr val="2FB3D6"/>
          </a:solidFill>
          <a:ln/>
        </p:spPr>
      </p:sp>
      <p:sp>
        <p:nvSpPr>
          <p:cNvPr id="6" name="Text 4"/>
          <p:cNvSpPr/>
          <p:nvPr/>
        </p:nvSpPr>
        <p:spPr>
          <a:xfrm>
            <a:off x="822960" y="1947672"/>
            <a:ext cx="457200" cy="457200"/>
          </a:xfrm>
          <a:prstGeom prst="rect">
            <a:avLst/>
          </a:prstGeom>
          <a:noFill/>
          <a:ln/>
        </p:spPr>
        <p:txBody>
          <a:bodyPr wrap="square" lIns="0" tIns="0" rIns="0" bIns="0" rtlCol="0" anchor="ctr"/>
          <a:lstStyle/>
          <a:p>
            <a:pPr algn="ctr" indent="0" marL="0">
              <a:buNone/>
            </a:pPr>
            <a:r>
              <a:rPr lang="en-US" sz="1800" b="1" dirty="0">
                <a:solidFill>
                  <a:srgbClr val="0B1220"/>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444752" y="1929384"/>
            <a:ext cx="4251960" cy="502920"/>
          </a:xfrm>
          <a:prstGeom prst="rect">
            <a:avLst/>
          </a:prstGeom>
          <a:noFill/>
          <a:ln/>
        </p:spPr>
        <p:txBody>
          <a:bodyPr wrap="square" lIns="0" tIns="0" rIns="0" bIns="0" rtlCol="0" anchor="ctr"/>
          <a:lstStyle/>
          <a:p>
            <a:pPr indent="0" marL="0">
              <a:buNone/>
            </a:pPr>
            <a:r>
              <a:rPr lang="en-US" sz="1500" b="1" dirty="0">
                <a:solidFill>
                  <a:srgbClr val="2FB3D6"/>
                </a:solidFill>
                <a:latin typeface="Calibri" pitchFamily="34" charset="0"/>
                <a:ea typeface="Calibri" pitchFamily="34" charset="-122"/>
                <a:cs typeface="Calibri" pitchFamily="34" charset="-120"/>
              </a:rPr>
              <a:t>Day of the week</a:t>
            </a:r>
            <a:endParaRPr lang="en-US" sz="1500" dirty="0"/>
          </a:p>
        </p:txBody>
      </p:sp>
      <p:sp>
        <p:nvSpPr>
          <p:cNvPr id="8" name="Text 6"/>
          <p:cNvSpPr/>
          <p:nvPr/>
        </p:nvSpPr>
        <p:spPr>
          <a:xfrm>
            <a:off x="841248" y="2606040"/>
            <a:ext cx="4809744" cy="914400"/>
          </a:xfrm>
          <a:prstGeom prst="rect">
            <a:avLst/>
          </a:prstGeom>
          <a:noFill/>
          <a:ln/>
        </p:spPr>
        <p:txBody>
          <a:bodyPr wrap="square" lIns="0" tIns="0" rIns="0" bIns="0" rtlCol="0" anchor="ctr"/>
          <a:lstStyle/>
          <a:p>
            <a:pPr indent="0" marL="0">
              <a:lnSpc>
                <a:spcPct val="120000"/>
              </a:lnSpc>
              <a:buNone/>
            </a:pPr>
            <a:r>
              <a:rPr lang="en-US" sz="1250" dirty="0">
                <a:solidFill>
                  <a:srgbClr val="F5F7FA"/>
                </a:solidFill>
                <a:latin typeface="Calibri" pitchFamily="34" charset="0"/>
                <a:ea typeface="Calibri" pitchFamily="34" charset="-122"/>
                <a:cs typeface="Calibri" pitchFamily="34" charset="-120"/>
              </a:rPr>
              <a:t>Weekends (Fri–Sat) draw far more sessions than weekdays; Monday and Tuesday lag behind by up to 41%.</a:t>
            </a:r>
            <a:endParaRPr lang="en-US" sz="1250" dirty="0"/>
          </a:p>
        </p:txBody>
      </p:sp>
      <p:sp>
        <p:nvSpPr>
          <p:cNvPr id="9" name="Shape 7"/>
          <p:cNvSpPr/>
          <p:nvPr/>
        </p:nvSpPr>
        <p:spPr>
          <a:xfrm>
            <a:off x="6263640" y="1691640"/>
            <a:ext cx="5394960" cy="2011680"/>
          </a:xfrm>
          <a:prstGeom prst="roundRect">
            <a:avLst>
              <a:gd name="adj" fmla="val 3636"/>
            </a:avLst>
          </a:prstGeom>
          <a:solidFill>
            <a:srgbClr val="141C2E"/>
          </a:solidFill>
          <a:ln w="12700">
            <a:solidFill>
              <a:srgbClr val="26314A"/>
            </a:solidFill>
            <a:prstDash val="solid"/>
          </a:ln>
        </p:spPr>
      </p:sp>
      <p:sp>
        <p:nvSpPr>
          <p:cNvPr id="10" name="Shape 8"/>
          <p:cNvSpPr/>
          <p:nvPr/>
        </p:nvSpPr>
        <p:spPr>
          <a:xfrm>
            <a:off x="6537960" y="1947672"/>
            <a:ext cx="457200" cy="457200"/>
          </a:xfrm>
          <a:prstGeom prst="ellipse">
            <a:avLst/>
          </a:prstGeom>
          <a:solidFill>
            <a:srgbClr val="F2C14E"/>
          </a:solidFill>
          <a:ln/>
        </p:spPr>
      </p:sp>
      <p:sp>
        <p:nvSpPr>
          <p:cNvPr id="11" name="Text 9"/>
          <p:cNvSpPr/>
          <p:nvPr/>
        </p:nvSpPr>
        <p:spPr>
          <a:xfrm>
            <a:off x="6537960" y="1947672"/>
            <a:ext cx="457200" cy="457200"/>
          </a:xfrm>
          <a:prstGeom prst="rect">
            <a:avLst/>
          </a:prstGeom>
          <a:noFill/>
          <a:ln/>
        </p:spPr>
        <p:txBody>
          <a:bodyPr wrap="square" lIns="0" tIns="0" rIns="0" bIns="0" rtlCol="0" anchor="ctr"/>
          <a:lstStyle/>
          <a:p>
            <a:pPr algn="ctr" indent="0" marL="0">
              <a:buNone/>
            </a:pPr>
            <a:r>
              <a:rPr lang="en-US" sz="1800" b="1" dirty="0">
                <a:solidFill>
                  <a:srgbClr val="0B1220"/>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7159752" y="1929384"/>
            <a:ext cx="4251960" cy="502920"/>
          </a:xfrm>
          <a:prstGeom prst="rect">
            <a:avLst/>
          </a:prstGeom>
          <a:noFill/>
          <a:ln/>
        </p:spPr>
        <p:txBody>
          <a:bodyPr wrap="square" lIns="0" tIns="0" rIns="0" bIns="0" rtlCol="0" anchor="ctr"/>
          <a:lstStyle/>
          <a:p>
            <a:pPr indent="0" marL="0">
              <a:buNone/>
            </a:pPr>
            <a:r>
              <a:rPr lang="en-US" sz="1500" b="1" dirty="0">
                <a:solidFill>
                  <a:srgbClr val="F2C14E"/>
                </a:solidFill>
                <a:latin typeface="Calibri" pitchFamily="34" charset="0"/>
                <a:ea typeface="Calibri" pitchFamily="34" charset="-122"/>
                <a:cs typeface="Calibri" pitchFamily="34" charset="-120"/>
              </a:rPr>
              <a:t>Time of day</a:t>
            </a:r>
            <a:endParaRPr lang="en-US" sz="1500" dirty="0"/>
          </a:p>
        </p:txBody>
      </p:sp>
      <p:sp>
        <p:nvSpPr>
          <p:cNvPr id="13" name="Text 11"/>
          <p:cNvSpPr/>
          <p:nvPr/>
        </p:nvSpPr>
        <p:spPr>
          <a:xfrm>
            <a:off x="6556248" y="2606040"/>
            <a:ext cx="4809744" cy="914400"/>
          </a:xfrm>
          <a:prstGeom prst="rect">
            <a:avLst/>
          </a:prstGeom>
          <a:noFill/>
          <a:ln/>
        </p:spPr>
        <p:txBody>
          <a:bodyPr wrap="square" lIns="0" tIns="0" rIns="0" bIns="0" rtlCol="0" anchor="ctr"/>
          <a:lstStyle/>
          <a:p>
            <a:pPr indent="0" marL="0">
              <a:lnSpc>
                <a:spcPct val="120000"/>
              </a:lnSpc>
              <a:buNone/>
            </a:pPr>
            <a:r>
              <a:rPr lang="en-US" sz="1250" dirty="0">
                <a:solidFill>
                  <a:srgbClr val="F5F7FA"/>
                </a:solidFill>
                <a:latin typeface="Calibri" pitchFamily="34" charset="0"/>
                <a:ea typeface="Calibri" pitchFamily="34" charset="-122"/>
                <a:cs typeface="Calibri" pitchFamily="34" charset="-120"/>
              </a:rPr>
              <a:t>A single daytime plateau (10:00–18:00) carries most viewing; evenings and overnight are largely dead time.</a:t>
            </a:r>
            <a:endParaRPr lang="en-US" sz="1250" dirty="0"/>
          </a:p>
        </p:txBody>
      </p:sp>
      <p:sp>
        <p:nvSpPr>
          <p:cNvPr id="14" name="Shape 12"/>
          <p:cNvSpPr/>
          <p:nvPr/>
        </p:nvSpPr>
        <p:spPr>
          <a:xfrm>
            <a:off x="548640" y="4023360"/>
            <a:ext cx="5394960" cy="2011680"/>
          </a:xfrm>
          <a:prstGeom prst="roundRect">
            <a:avLst>
              <a:gd name="adj" fmla="val 3636"/>
            </a:avLst>
          </a:prstGeom>
          <a:solidFill>
            <a:srgbClr val="141C2E"/>
          </a:solidFill>
          <a:ln w="12700">
            <a:solidFill>
              <a:srgbClr val="26314A"/>
            </a:solidFill>
            <a:prstDash val="solid"/>
          </a:ln>
        </p:spPr>
      </p:sp>
      <p:sp>
        <p:nvSpPr>
          <p:cNvPr id="15" name="Shape 13"/>
          <p:cNvSpPr/>
          <p:nvPr/>
        </p:nvSpPr>
        <p:spPr>
          <a:xfrm>
            <a:off x="822960" y="4279392"/>
            <a:ext cx="457200" cy="457200"/>
          </a:xfrm>
          <a:prstGeom prst="ellipse">
            <a:avLst/>
          </a:prstGeom>
          <a:solidFill>
            <a:srgbClr val="E6635A"/>
          </a:solidFill>
          <a:ln/>
        </p:spPr>
      </p:sp>
      <p:sp>
        <p:nvSpPr>
          <p:cNvPr id="16" name="Text 14"/>
          <p:cNvSpPr/>
          <p:nvPr/>
        </p:nvSpPr>
        <p:spPr>
          <a:xfrm>
            <a:off x="822960" y="4279392"/>
            <a:ext cx="457200" cy="457200"/>
          </a:xfrm>
          <a:prstGeom prst="rect">
            <a:avLst/>
          </a:prstGeom>
          <a:noFill/>
          <a:ln/>
        </p:spPr>
        <p:txBody>
          <a:bodyPr wrap="square" lIns="0" tIns="0" rIns="0" bIns="0" rtlCol="0" anchor="ctr"/>
          <a:lstStyle/>
          <a:p>
            <a:pPr algn="ctr" indent="0" marL="0">
              <a:buNone/>
            </a:pPr>
            <a:r>
              <a:rPr lang="en-US" sz="1800" b="1" dirty="0">
                <a:solidFill>
                  <a:srgbClr val="0B1220"/>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444752" y="4261104"/>
            <a:ext cx="4251960" cy="502920"/>
          </a:xfrm>
          <a:prstGeom prst="rect">
            <a:avLst/>
          </a:prstGeom>
          <a:noFill/>
          <a:ln/>
        </p:spPr>
        <p:txBody>
          <a:bodyPr wrap="square" lIns="0" tIns="0" rIns="0" bIns="0" rtlCol="0" anchor="ctr"/>
          <a:lstStyle/>
          <a:p>
            <a:pPr indent="0" marL="0">
              <a:buNone/>
            </a:pPr>
            <a:r>
              <a:rPr lang="en-US" sz="1500" b="1" dirty="0">
                <a:solidFill>
                  <a:srgbClr val="E6635A"/>
                </a:solidFill>
                <a:latin typeface="Calibri" pitchFamily="34" charset="0"/>
                <a:ea typeface="Calibri" pitchFamily="34" charset="-122"/>
                <a:cs typeface="Calibri" pitchFamily="34" charset="-120"/>
              </a:rPr>
              <a:t>Content type</a:t>
            </a:r>
            <a:endParaRPr lang="en-US" sz="1500" dirty="0"/>
          </a:p>
        </p:txBody>
      </p:sp>
      <p:sp>
        <p:nvSpPr>
          <p:cNvPr id="18" name="Text 16"/>
          <p:cNvSpPr/>
          <p:nvPr/>
        </p:nvSpPr>
        <p:spPr>
          <a:xfrm>
            <a:off x="841248" y="4937760"/>
            <a:ext cx="4809744" cy="914400"/>
          </a:xfrm>
          <a:prstGeom prst="rect">
            <a:avLst/>
          </a:prstGeom>
          <a:noFill/>
          <a:ln/>
        </p:spPr>
        <p:txBody>
          <a:bodyPr wrap="square" lIns="0" tIns="0" rIns="0" bIns="0" rtlCol="0" anchor="ctr"/>
          <a:lstStyle/>
          <a:p>
            <a:pPr indent="0" marL="0">
              <a:lnSpc>
                <a:spcPct val="120000"/>
              </a:lnSpc>
              <a:buNone/>
            </a:pPr>
            <a:r>
              <a:rPr lang="en-US" sz="1250" dirty="0">
                <a:solidFill>
                  <a:srgbClr val="F5F7FA"/>
                </a:solidFill>
                <a:latin typeface="Calibri" pitchFamily="34" charset="0"/>
                <a:ea typeface="Calibri" pitchFamily="34" charset="-122"/>
                <a:cs typeface="Calibri" pitchFamily="34" charset="-120"/>
              </a:rPr>
              <a:t>Live sport and marquee events (Supersport, ICC Cricket World Cup) far outperform general entertainment channels.</a:t>
            </a:r>
            <a:endParaRPr lang="en-US" sz="1250" dirty="0"/>
          </a:p>
        </p:txBody>
      </p:sp>
      <p:sp>
        <p:nvSpPr>
          <p:cNvPr id="19" name="Shape 17"/>
          <p:cNvSpPr/>
          <p:nvPr/>
        </p:nvSpPr>
        <p:spPr>
          <a:xfrm>
            <a:off x="6263640" y="4023360"/>
            <a:ext cx="5394960" cy="2011680"/>
          </a:xfrm>
          <a:prstGeom prst="roundRect">
            <a:avLst>
              <a:gd name="adj" fmla="val 3636"/>
            </a:avLst>
          </a:prstGeom>
          <a:solidFill>
            <a:srgbClr val="141C2E"/>
          </a:solidFill>
          <a:ln w="12700">
            <a:solidFill>
              <a:srgbClr val="26314A"/>
            </a:solidFill>
            <a:prstDash val="solid"/>
          </a:ln>
        </p:spPr>
      </p:sp>
      <p:sp>
        <p:nvSpPr>
          <p:cNvPr id="20" name="Shape 18"/>
          <p:cNvSpPr/>
          <p:nvPr/>
        </p:nvSpPr>
        <p:spPr>
          <a:xfrm>
            <a:off x="6537960" y="4279392"/>
            <a:ext cx="457200" cy="457200"/>
          </a:xfrm>
          <a:prstGeom prst="ellipse">
            <a:avLst/>
          </a:prstGeom>
          <a:solidFill>
            <a:srgbClr val="3FC28A"/>
          </a:solidFill>
          <a:ln/>
        </p:spPr>
      </p:sp>
      <p:sp>
        <p:nvSpPr>
          <p:cNvPr id="21" name="Text 19"/>
          <p:cNvSpPr/>
          <p:nvPr/>
        </p:nvSpPr>
        <p:spPr>
          <a:xfrm>
            <a:off x="6537960" y="4279392"/>
            <a:ext cx="457200" cy="457200"/>
          </a:xfrm>
          <a:prstGeom prst="rect">
            <a:avLst/>
          </a:prstGeom>
          <a:noFill/>
          <a:ln/>
        </p:spPr>
        <p:txBody>
          <a:bodyPr wrap="square" lIns="0" tIns="0" rIns="0" bIns="0" rtlCol="0" anchor="ctr"/>
          <a:lstStyle/>
          <a:p>
            <a:pPr algn="ctr" indent="0" marL="0">
              <a:buNone/>
            </a:pPr>
            <a:r>
              <a:rPr lang="en-US" sz="1800" b="1" dirty="0">
                <a:solidFill>
                  <a:srgbClr val="0B1220"/>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7159752" y="4261104"/>
            <a:ext cx="4251960" cy="502920"/>
          </a:xfrm>
          <a:prstGeom prst="rect">
            <a:avLst/>
          </a:prstGeom>
          <a:noFill/>
          <a:ln/>
        </p:spPr>
        <p:txBody>
          <a:bodyPr wrap="square" lIns="0" tIns="0" rIns="0" bIns="0" rtlCol="0" anchor="ctr"/>
          <a:lstStyle/>
          <a:p>
            <a:pPr indent="0" marL="0">
              <a:buNone/>
            </a:pPr>
            <a:r>
              <a:rPr lang="en-US" sz="1500" b="1" dirty="0">
                <a:solidFill>
                  <a:srgbClr val="3FC28A"/>
                </a:solidFill>
                <a:latin typeface="Calibri" pitchFamily="34" charset="0"/>
                <a:ea typeface="Calibri" pitchFamily="34" charset="-122"/>
                <a:cs typeface="Calibri" pitchFamily="34" charset="-120"/>
              </a:rPr>
              <a:t>Audience profile</a:t>
            </a:r>
            <a:endParaRPr lang="en-US" sz="1500" dirty="0"/>
          </a:p>
        </p:txBody>
      </p:sp>
      <p:sp>
        <p:nvSpPr>
          <p:cNvPr id="23" name="Text 21"/>
          <p:cNvSpPr/>
          <p:nvPr/>
        </p:nvSpPr>
        <p:spPr>
          <a:xfrm>
            <a:off x="6556248" y="4937760"/>
            <a:ext cx="4809744" cy="914400"/>
          </a:xfrm>
          <a:prstGeom prst="rect">
            <a:avLst/>
          </a:prstGeom>
          <a:noFill/>
          <a:ln/>
        </p:spPr>
        <p:txBody>
          <a:bodyPr wrap="square" lIns="0" tIns="0" rIns="0" bIns="0" rtlCol="0" anchor="ctr"/>
          <a:lstStyle/>
          <a:p>
            <a:pPr indent="0" marL="0">
              <a:lnSpc>
                <a:spcPct val="120000"/>
              </a:lnSpc>
              <a:buNone/>
            </a:pPr>
            <a:r>
              <a:rPr lang="en-US" sz="1250" dirty="0">
                <a:solidFill>
                  <a:srgbClr val="F5F7FA"/>
                </a:solidFill>
                <a:latin typeface="Calibri" pitchFamily="34" charset="0"/>
                <a:ea typeface="Calibri" pitchFamily="34" charset="-122"/>
                <a:cs typeface="Calibri" pitchFamily="34" charset="-120"/>
              </a:rPr>
              <a:t>A young, male-leaning, Black-majority audience drives the bulk of views — other segments are under-consuming.</a:t>
            </a:r>
            <a:endParaRPr lang="en-US" sz="1250" dirty="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9AAEC7"/>
                </a:solidFill>
                <a:latin typeface="Calibri" pitchFamily="34" charset="0"/>
                <a:ea typeface="Calibri" pitchFamily="34" charset="-122"/>
                <a:cs typeface="Calibri" pitchFamily="34" charset="-120"/>
              </a:rPr>
              <a:t>BrightTV  |  CVM Growth Insights</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9AAEC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9418320" y="-2194560"/>
            <a:ext cx="5943600" cy="5943600"/>
          </a:xfrm>
          <a:prstGeom prst="ellipse">
            <a:avLst/>
          </a:prstGeom>
          <a:solidFill>
            <a:srgbClr val="10192B"/>
          </a:solidFill>
          <a:ln/>
        </p:spPr>
      </p:sp>
      <p:sp>
        <p:nvSpPr>
          <p:cNvPr id="3" name="Text 1"/>
          <p:cNvSpPr/>
          <p:nvPr/>
        </p:nvSpPr>
        <p:spPr>
          <a:xfrm>
            <a:off x="777240" y="2331720"/>
            <a:ext cx="2743200" cy="1188720"/>
          </a:xfrm>
          <a:prstGeom prst="rect">
            <a:avLst/>
          </a:prstGeom>
          <a:noFill/>
          <a:ln/>
        </p:spPr>
        <p:txBody>
          <a:bodyPr wrap="square" lIns="0" tIns="0" rIns="0" bIns="0" rtlCol="0" anchor="ctr"/>
          <a:lstStyle/>
          <a:p>
            <a:pPr indent="0" marL="0">
              <a:buNone/>
            </a:pPr>
            <a:r>
              <a:rPr lang="en-US" sz="6000" b="1" dirty="0">
                <a:solidFill>
                  <a:srgbClr val="20304F"/>
                </a:solidFill>
                <a:latin typeface="Cambria" pitchFamily="34" charset="0"/>
                <a:ea typeface="Cambria" pitchFamily="34" charset="-122"/>
                <a:cs typeface="Cambria" pitchFamily="34" charset="-120"/>
              </a:rPr>
              <a:t>03</a:t>
            </a:r>
            <a:endParaRPr lang="en-US" sz="6000" dirty="0"/>
          </a:p>
        </p:txBody>
      </p:sp>
      <p:sp>
        <p:nvSpPr>
          <p:cNvPr id="4" name="Text 2"/>
          <p:cNvSpPr/>
          <p:nvPr/>
        </p:nvSpPr>
        <p:spPr>
          <a:xfrm>
            <a:off x="822960" y="3246120"/>
            <a:ext cx="7315200" cy="365760"/>
          </a:xfrm>
          <a:prstGeom prst="rect">
            <a:avLst/>
          </a:prstGeom>
          <a:noFill/>
          <a:ln/>
        </p:spPr>
        <p:txBody>
          <a:bodyPr wrap="square" lIns="0" tIns="0" rIns="0" bIns="0" rtlCol="0" anchor="ctr"/>
          <a:lstStyle/>
          <a:p>
            <a:pPr indent="0" marL="0">
              <a:buNone/>
            </a:pPr>
            <a:r>
              <a:rPr lang="en-US" sz="1300" b="1" spc="200" kern="0" dirty="0">
                <a:solidFill>
                  <a:srgbClr val="2FB3D6"/>
                </a:solidFill>
                <a:latin typeface="Calibri" pitchFamily="34" charset="0"/>
                <a:ea typeface="Calibri" pitchFamily="34" charset="-122"/>
                <a:cs typeface="Calibri" pitchFamily="34" charset="-120"/>
              </a:rPr>
              <a:t>SECTION THREE</a:t>
            </a:r>
            <a:endParaRPr lang="en-US" sz="1300" dirty="0"/>
          </a:p>
        </p:txBody>
      </p:sp>
      <p:sp>
        <p:nvSpPr>
          <p:cNvPr id="5" name="Text 3"/>
          <p:cNvSpPr/>
          <p:nvPr/>
        </p:nvSpPr>
        <p:spPr>
          <a:xfrm>
            <a:off x="777240" y="3566160"/>
            <a:ext cx="9601200" cy="1005840"/>
          </a:xfrm>
          <a:prstGeom prst="rect">
            <a:avLst/>
          </a:prstGeom>
          <a:noFill/>
          <a:ln/>
        </p:spPr>
        <p:txBody>
          <a:bodyPr wrap="square" lIns="0" tIns="0" rIns="0" bIns="0" rtlCol="0" anchor="ctr"/>
          <a:lstStyle/>
          <a:p>
            <a:pPr indent="0" marL="0">
              <a:buNone/>
            </a:pPr>
            <a:r>
              <a:rPr lang="en-US" sz="3600" b="1" dirty="0">
                <a:solidFill>
                  <a:srgbClr val="F5F7FA"/>
                </a:solidFill>
                <a:latin typeface="Cambria" pitchFamily="34" charset="0"/>
                <a:ea typeface="Cambria" pitchFamily="34" charset="-122"/>
                <a:cs typeface="Cambria" pitchFamily="34" charset="-120"/>
              </a:rPr>
              <a:t>Fixing the Low Days</a:t>
            </a:r>
            <a:endParaRPr lang="en-US" sz="3600" dirty="0"/>
          </a:p>
        </p:txBody>
      </p:sp>
      <p:sp>
        <p:nvSpPr>
          <p:cNvPr id="6" name="Text 4"/>
          <p:cNvSpPr/>
          <p:nvPr/>
        </p:nvSpPr>
        <p:spPr>
          <a:xfrm>
            <a:off x="822960" y="4434840"/>
            <a:ext cx="8686800" cy="548640"/>
          </a:xfrm>
          <a:prstGeom prst="rect">
            <a:avLst/>
          </a:prstGeom>
          <a:noFill/>
          <a:ln/>
        </p:spPr>
        <p:txBody>
          <a:bodyPr wrap="square" lIns="0" tIns="0" rIns="0" bIns="0" rtlCol="0" anchor="ctr"/>
          <a:lstStyle/>
          <a:p>
            <a:pPr indent="0" marL="0">
              <a:buNone/>
            </a:pPr>
            <a:r>
              <a:rPr lang="en-US" sz="1400" i="1" dirty="0">
                <a:solidFill>
                  <a:srgbClr val="9AAEC7"/>
                </a:solidFill>
                <a:latin typeface="Calibri" pitchFamily="34" charset="0"/>
                <a:ea typeface="Calibri" pitchFamily="34" charset="-122"/>
                <a:cs typeface="Calibri" pitchFamily="34" charset="-120"/>
              </a:rPr>
              <a:t>Turning Monday and Tuesday into growth opportunities, not dead zones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2FB3D6"/>
                </a:solidFill>
                <a:latin typeface="Calibri" pitchFamily="34" charset="0"/>
                <a:ea typeface="Calibri" pitchFamily="34" charset="-122"/>
                <a:cs typeface="Calibri" pitchFamily="34" charset="-120"/>
              </a:rPr>
              <a:t>RECOMMENDATION</a:t>
            </a:r>
            <a:endParaRPr lang="en-US" sz="125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What to Schedule on Monday &amp; Tuesday</a:t>
            </a:r>
            <a:endParaRPr lang="en-US" sz="3000" dirty="0"/>
          </a:p>
        </p:txBody>
      </p:sp>
      <p:sp>
        <p:nvSpPr>
          <p:cNvPr id="4" name="Shape 2"/>
          <p:cNvSpPr/>
          <p:nvPr/>
        </p:nvSpPr>
        <p:spPr>
          <a:xfrm>
            <a:off x="548640" y="1783080"/>
            <a:ext cx="11064240" cy="868680"/>
          </a:xfrm>
          <a:prstGeom prst="roundRect">
            <a:avLst>
              <a:gd name="adj" fmla="val 7368"/>
            </a:avLst>
          </a:prstGeom>
          <a:solidFill>
            <a:srgbClr val="141C2E"/>
          </a:solidFill>
          <a:ln w="12700">
            <a:solidFill>
              <a:srgbClr val="26314A"/>
            </a:solidFill>
            <a:prstDash val="solid"/>
          </a:ln>
        </p:spPr>
      </p:sp>
      <p:sp>
        <p:nvSpPr>
          <p:cNvPr id="5" name="Shape 3"/>
          <p:cNvSpPr/>
          <p:nvPr/>
        </p:nvSpPr>
        <p:spPr>
          <a:xfrm>
            <a:off x="822960" y="2016252"/>
            <a:ext cx="402336" cy="402336"/>
          </a:xfrm>
          <a:prstGeom prst="ellipse">
            <a:avLst/>
          </a:prstGeom>
          <a:solidFill>
            <a:srgbClr val="2FB3D6"/>
          </a:solidFill>
          <a:ln/>
        </p:spPr>
      </p:sp>
      <p:sp>
        <p:nvSpPr>
          <p:cNvPr id="6" name="Text 4"/>
          <p:cNvSpPr/>
          <p:nvPr/>
        </p:nvSpPr>
        <p:spPr>
          <a:xfrm>
            <a:off x="822960" y="2016252"/>
            <a:ext cx="402336" cy="402336"/>
          </a:xfrm>
          <a:prstGeom prst="rect">
            <a:avLst/>
          </a:prstGeom>
          <a:noFill/>
          <a:ln/>
        </p:spPr>
        <p:txBody>
          <a:bodyPr wrap="square" lIns="0" tIns="0" rIns="0" bIns="0" rtlCol="0" anchor="ctr"/>
          <a:lstStyle/>
          <a:p>
            <a:pPr algn="ctr" indent="0" marL="0">
              <a:buNone/>
            </a:pPr>
            <a:r>
              <a:rPr lang="en-US" sz="1600" b="1" dirty="0">
                <a:solidFill>
                  <a:srgbClr val="0B1220"/>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17320" y="1856232"/>
            <a:ext cx="3291840" cy="722376"/>
          </a:xfrm>
          <a:prstGeom prst="rect">
            <a:avLst/>
          </a:prstGeom>
          <a:noFill/>
          <a:ln/>
        </p:spPr>
        <p:txBody>
          <a:bodyPr wrap="square" lIns="0" tIns="0" rIns="0" bIns="0" rtlCol="0" anchor="ctr"/>
          <a:lstStyle/>
          <a:p>
            <a:pPr indent="0" marL="0">
              <a:lnSpc>
                <a:spcPct val="110000"/>
              </a:lnSpc>
              <a:buNone/>
            </a:pPr>
            <a:r>
              <a:rPr lang="en-US" sz="1400" b="1" dirty="0">
                <a:solidFill>
                  <a:srgbClr val="F5F7FA"/>
                </a:solidFill>
                <a:latin typeface="Calibri" pitchFamily="34" charset="0"/>
                <a:ea typeface="Calibri" pitchFamily="34" charset="-122"/>
                <a:cs typeface="Calibri" pitchFamily="34" charset="-120"/>
              </a:rPr>
              <a:t>Lead with live sport</a:t>
            </a:r>
            <a:endParaRPr lang="en-US" sz="1400" dirty="0"/>
          </a:p>
        </p:txBody>
      </p:sp>
      <p:sp>
        <p:nvSpPr>
          <p:cNvPr id="8" name="Text 6"/>
          <p:cNvSpPr/>
          <p:nvPr/>
        </p:nvSpPr>
        <p:spPr>
          <a:xfrm>
            <a:off x="4846320" y="1783080"/>
            <a:ext cx="6537960" cy="868680"/>
          </a:xfrm>
          <a:prstGeom prst="rect">
            <a:avLst/>
          </a:prstGeom>
          <a:noFill/>
          <a:ln/>
        </p:spPr>
        <p:txBody>
          <a:bodyPr wrap="square" lIns="0" tIns="0" rIns="0" bIns="0" rtlCol="0" anchor="ctr"/>
          <a:lstStyle/>
          <a:p>
            <a:pPr indent="0" marL="0">
              <a:lnSpc>
                <a:spcPct val="115000"/>
              </a:lnSpc>
              <a:buNone/>
            </a:pPr>
            <a:r>
              <a:rPr lang="en-US" sz="1200" dirty="0">
                <a:solidFill>
                  <a:srgbClr val="9AAEC7"/>
                </a:solidFill>
                <a:latin typeface="Calibri" pitchFamily="34" charset="0"/>
                <a:ea typeface="Calibri" pitchFamily="34" charset="-122"/>
                <a:cs typeface="Calibri" pitchFamily="34" charset="-120"/>
              </a:rPr>
              <a:t>Move a marquee live sport fixture or Supersport double-header to Monday/Tuesday — it is the single strongest consumption driver we have.</a:t>
            </a:r>
            <a:endParaRPr lang="en-US" sz="1200" dirty="0"/>
          </a:p>
        </p:txBody>
      </p:sp>
      <p:sp>
        <p:nvSpPr>
          <p:cNvPr id="9" name="Shape 7"/>
          <p:cNvSpPr/>
          <p:nvPr/>
        </p:nvSpPr>
        <p:spPr>
          <a:xfrm>
            <a:off x="548640" y="2834640"/>
            <a:ext cx="11064240" cy="868680"/>
          </a:xfrm>
          <a:prstGeom prst="roundRect">
            <a:avLst>
              <a:gd name="adj" fmla="val 7368"/>
            </a:avLst>
          </a:prstGeom>
          <a:solidFill>
            <a:srgbClr val="1B2540"/>
          </a:solidFill>
          <a:ln w="12700">
            <a:solidFill>
              <a:srgbClr val="26314A"/>
            </a:solidFill>
            <a:prstDash val="solid"/>
          </a:ln>
        </p:spPr>
      </p:sp>
      <p:sp>
        <p:nvSpPr>
          <p:cNvPr id="10" name="Shape 8"/>
          <p:cNvSpPr/>
          <p:nvPr/>
        </p:nvSpPr>
        <p:spPr>
          <a:xfrm>
            <a:off x="822960" y="3067812"/>
            <a:ext cx="402336" cy="402336"/>
          </a:xfrm>
          <a:prstGeom prst="ellipse">
            <a:avLst/>
          </a:prstGeom>
          <a:solidFill>
            <a:srgbClr val="2FB3D6"/>
          </a:solidFill>
          <a:ln/>
        </p:spPr>
      </p:sp>
      <p:sp>
        <p:nvSpPr>
          <p:cNvPr id="11" name="Text 9"/>
          <p:cNvSpPr/>
          <p:nvPr/>
        </p:nvSpPr>
        <p:spPr>
          <a:xfrm>
            <a:off x="822960" y="3067812"/>
            <a:ext cx="402336" cy="402336"/>
          </a:xfrm>
          <a:prstGeom prst="rect">
            <a:avLst/>
          </a:prstGeom>
          <a:noFill/>
          <a:ln/>
        </p:spPr>
        <p:txBody>
          <a:bodyPr wrap="square" lIns="0" tIns="0" rIns="0" bIns="0" rtlCol="0" anchor="ctr"/>
          <a:lstStyle/>
          <a:p>
            <a:pPr algn="ctr" indent="0" marL="0">
              <a:buNone/>
            </a:pPr>
            <a:r>
              <a:rPr lang="en-US" sz="1600" b="1" dirty="0">
                <a:solidFill>
                  <a:srgbClr val="0B1220"/>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417320" y="2907792"/>
            <a:ext cx="3291840" cy="722376"/>
          </a:xfrm>
          <a:prstGeom prst="rect">
            <a:avLst/>
          </a:prstGeom>
          <a:noFill/>
          <a:ln/>
        </p:spPr>
        <p:txBody>
          <a:bodyPr wrap="square" lIns="0" tIns="0" rIns="0" bIns="0" rtlCol="0" anchor="ctr"/>
          <a:lstStyle/>
          <a:p>
            <a:pPr indent="0" marL="0">
              <a:lnSpc>
                <a:spcPct val="110000"/>
              </a:lnSpc>
              <a:buNone/>
            </a:pPr>
            <a:r>
              <a:rPr lang="en-US" sz="1400" b="1" dirty="0">
                <a:solidFill>
                  <a:srgbClr val="F5F7FA"/>
                </a:solidFill>
                <a:latin typeface="Calibri" pitchFamily="34" charset="0"/>
                <a:ea typeface="Calibri" pitchFamily="34" charset="-122"/>
                <a:cs typeface="Calibri" pitchFamily="34" charset="-120"/>
              </a:rPr>
              <a:t>Premiere youth content early-week</a:t>
            </a:r>
            <a:endParaRPr lang="en-US" sz="1400" dirty="0"/>
          </a:p>
        </p:txBody>
      </p:sp>
      <p:sp>
        <p:nvSpPr>
          <p:cNvPr id="13" name="Text 11"/>
          <p:cNvSpPr/>
          <p:nvPr/>
        </p:nvSpPr>
        <p:spPr>
          <a:xfrm>
            <a:off x="4846320" y="2834640"/>
            <a:ext cx="6537960" cy="868680"/>
          </a:xfrm>
          <a:prstGeom prst="rect">
            <a:avLst/>
          </a:prstGeom>
          <a:noFill/>
          <a:ln/>
        </p:spPr>
        <p:txBody>
          <a:bodyPr wrap="square" lIns="0" tIns="0" rIns="0" bIns="0" rtlCol="0" anchor="ctr"/>
          <a:lstStyle/>
          <a:p>
            <a:pPr indent="0" marL="0">
              <a:lnSpc>
                <a:spcPct val="115000"/>
              </a:lnSpc>
              <a:buNone/>
            </a:pPr>
            <a:r>
              <a:rPr lang="en-US" sz="1200" dirty="0">
                <a:solidFill>
                  <a:srgbClr val="9AAEC7"/>
                </a:solidFill>
                <a:latin typeface="Calibri" pitchFamily="34" charset="0"/>
                <a:ea typeface="Calibri" pitchFamily="34" charset="-122"/>
                <a:cs typeface="Calibri" pitchFamily="34" charset="-120"/>
              </a:rPr>
              <a:t>Since Youth drives ~60% of views, launch new youth-skewed series or drops on Monday instead of the weekend.</a:t>
            </a:r>
            <a:endParaRPr lang="en-US" sz="1200" dirty="0"/>
          </a:p>
        </p:txBody>
      </p:sp>
      <p:sp>
        <p:nvSpPr>
          <p:cNvPr id="14" name="Shape 12"/>
          <p:cNvSpPr/>
          <p:nvPr/>
        </p:nvSpPr>
        <p:spPr>
          <a:xfrm>
            <a:off x="548640" y="3886200"/>
            <a:ext cx="11064240" cy="868680"/>
          </a:xfrm>
          <a:prstGeom prst="roundRect">
            <a:avLst>
              <a:gd name="adj" fmla="val 7368"/>
            </a:avLst>
          </a:prstGeom>
          <a:solidFill>
            <a:srgbClr val="141C2E"/>
          </a:solidFill>
          <a:ln w="12700">
            <a:solidFill>
              <a:srgbClr val="26314A"/>
            </a:solidFill>
            <a:prstDash val="solid"/>
          </a:ln>
        </p:spPr>
      </p:sp>
      <p:sp>
        <p:nvSpPr>
          <p:cNvPr id="15" name="Shape 13"/>
          <p:cNvSpPr/>
          <p:nvPr/>
        </p:nvSpPr>
        <p:spPr>
          <a:xfrm>
            <a:off x="822960" y="4119372"/>
            <a:ext cx="402336" cy="402336"/>
          </a:xfrm>
          <a:prstGeom prst="ellipse">
            <a:avLst/>
          </a:prstGeom>
          <a:solidFill>
            <a:srgbClr val="2FB3D6"/>
          </a:solidFill>
          <a:ln/>
        </p:spPr>
      </p:sp>
      <p:sp>
        <p:nvSpPr>
          <p:cNvPr id="16" name="Text 14"/>
          <p:cNvSpPr/>
          <p:nvPr/>
        </p:nvSpPr>
        <p:spPr>
          <a:xfrm>
            <a:off x="822960" y="4119372"/>
            <a:ext cx="402336" cy="402336"/>
          </a:xfrm>
          <a:prstGeom prst="rect">
            <a:avLst/>
          </a:prstGeom>
          <a:noFill/>
          <a:ln/>
        </p:spPr>
        <p:txBody>
          <a:bodyPr wrap="square" lIns="0" tIns="0" rIns="0" bIns="0" rtlCol="0" anchor="ctr"/>
          <a:lstStyle/>
          <a:p>
            <a:pPr algn="ctr" indent="0" marL="0">
              <a:buNone/>
            </a:pPr>
            <a:r>
              <a:rPr lang="en-US" sz="1600" b="1" dirty="0">
                <a:solidFill>
                  <a:srgbClr val="0B1220"/>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417320" y="3959352"/>
            <a:ext cx="3291840" cy="722376"/>
          </a:xfrm>
          <a:prstGeom prst="rect">
            <a:avLst/>
          </a:prstGeom>
          <a:noFill/>
          <a:ln/>
        </p:spPr>
        <p:txBody>
          <a:bodyPr wrap="square" lIns="0" tIns="0" rIns="0" bIns="0" rtlCol="0" anchor="ctr"/>
          <a:lstStyle/>
          <a:p>
            <a:pPr indent="0" marL="0">
              <a:lnSpc>
                <a:spcPct val="110000"/>
              </a:lnSpc>
              <a:buNone/>
            </a:pPr>
            <a:r>
              <a:rPr lang="en-US" sz="1400" b="1" dirty="0">
                <a:solidFill>
                  <a:srgbClr val="F5F7FA"/>
                </a:solidFill>
                <a:latin typeface="Calibri" pitchFamily="34" charset="0"/>
                <a:ea typeface="Calibri" pitchFamily="34" charset="-122"/>
                <a:cs typeface="Calibri" pitchFamily="34" charset="-120"/>
              </a:rPr>
              <a:t>Re-run weekend highlights</a:t>
            </a:r>
            <a:endParaRPr lang="en-US" sz="1400" dirty="0"/>
          </a:p>
        </p:txBody>
      </p:sp>
      <p:sp>
        <p:nvSpPr>
          <p:cNvPr id="18" name="Text 16"/>
          <p:cNvSpPr/>
          <p:nvPr/>
        </p:nvSpPr>
        <p:spPr>
          <a:xfrm>
            <a:off x="4846320" y="3886200"/>
            <a:ext cx="6537960" cy="868680"/>
          </a:xfrm>
          <a:prstGeom prst="rect">
            <a:avLst/>
          </a:prstGeom>
          <a:noFill/>
          <a:ln/>
        </p:spPr>
        <p:txBody>
          <a:bodyPr wrap="square" lIns="0" tIns="0" rIns="0" bIns="0" rtlCol="0" anchor="ctr"/>
          <a:lstStyle/>
          <a:p>
            <a:pPr indent="0" marL="0">
              <a:lnSpc>
                <a:spcPct val="115000"/>
              </a:lnSpc>
              <a:buNone/>
            </a:pPr>
            <a:r>
              <a:rPr lang="en-US" sz="1200" dirty="0">
                <a:solidFill>
                  <a:srgbClr val="9AAEC7"/>
                </a:solidFill>
                <a:latin typeface="Calibri" pitchFamily="34" charset="0"/>
                <a:ea typeface="Calibri" pitchFamily="34" charset="-122"/>
                <a:cs typeface="Calibri" pitchFamily="34" charset="-120"/>
              </a:rPr>
              <a:t>Package Friday/Saturday's best live-event moments into Monday/Tuesday highlight blocks to catch viewers who missed them.</a:t>
            </a:r>
            <a:endParaRPr lang="en-US" sz="1200" dirty="0"/>
          </a:p>
        </p:txBody>
      </p:sp>
      <p:sp>
        <p:nvSpPr>
          <p:cNvPr id="19" name="Shape 17"/>
          <p:cNvSpPr/>
          <p:nvPr/>
        </p:nvSpPr>
        <p:spPr>
          <a:xfrm>
            <a:off x="548640" y="4937760"/>
            <a:ext cx="11064240" cy="868680"/>
          </a:xfrm>
          <a:prstGeom prst="roundRect">
            <a:avLst>
              <a:gd name="adj" fmla="val 7368"/>
            </a:avLst>
          </a:prstGeom>
          <a:solidFill>
            <a:srgbClr val="1B2540"/>
          </a:solidFill>
          <a:ln w="12700">
            <a:solidFill>
              <a:srgbClr val="26314A"/>
            </a:solidFill>
            <a:prstDash val="solid"/>
          </a:ln>
        </p:spPr>
      </p:sp>
      <p:sp>
        <p:nvSpPr>
          <p:cNvPr id="20" name="Shape 18"/>
          <p:cNvSpPr/>
          <p:nvPr/>
        </p:nvSpPr>
        <p:spPr>
          <a:xfrm>
            <a:off x="822960" y="5170932"/>
            <a:ext cx="402336" cy="402336"/>
          </a:xfrm>
          <a:prstGeom prst="ellipse">
            <a:avLst/>
          </a:prstGeom>
          <a:solidFill>
            <a:srgbClr val="2FB3D6"/>
          </a:solidFill>
          <a:ln/>
        </p:spPr>
      </p:sp>
      <p:sp>
        <p:nvSpPr>
          <p:cNvPr id="21" name="Text 19"/>
          <p:cNvSpPr/>
          <p:nvPr/>
        </p:nvSpPr>
        <p:spPr>
          <a:xfrm>
            <a:off x="822960" y="5170932"/>
            <a:ext cx="402336" cy="402336"/>
          </a:xfrm>
          <a:prstGeom prst="rect">
            <a:avLst/>
          </a:prstGeom>
          <a:noFill/>
          <a:ln/>
        </p:spPr>
        <p:txBody>
          <a:bodyPr wrap="square" lIns="0" tIns="0" rIns="0" bIns="0" rtlCol="0" anchor="ctr"/>
          <a:lstStyle/>
          <a:p>
            <a:pPr algn="ctr" indent="0" marL="0">
              <a:buNone/>
            </a:pPr>
            <a:r>
              <a:rPr lang="en-US" sz="1600" b="1" dirty="0">
                <a:solidFill>
                  <a:srgbClr val="0B1220"/>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1417320" y="5010912"/>
            <a:ext cx="3291840" cy="722376"/>
          </a:xfrm>
          <a:prstGeom prst="rect">
            <a:avLst/>
          </a:prstGeom>
          <a:noFill/>
          <a:ln/>
        </p:spPr>
        <p:txBody>
          <a:bodyPr wrap="square" lIns="0" tIns="0" rIns="0" bIns="0" rtlCol="0" anchor="ctr"/>
          <a:lstStyle/>
          <a:p>
            <a:pPr indent="0" marL="0">
              <a:lnSpc>
                <a:spcPct val="110000"/>
              </a:lnSpc>
              <a:buNone/>
            </a:pPr>
            <a:r>
              <a:rPr lang="en-US" sz="1400" b="1" dirty="0">
                <a:solidFill>
                  <a:srgbClr val="F5F7FA"/>
                </a:solidFill>
                <a:latin typeface="Calibri" pitchFamily="34" charset="0"/>
                <a:ea typeface="Calibri" pitchFamily="34" charset="-122"/>
                <a:cs typeface="Calibri" pitchFamily="34" charset="-120"/>
              </a:rPr>
              <a:t>Target the 10:00–18:00 window</a:t>
            </a:r>
            <a:endParaRPr lang="en-US" sz="1400" dirty="0"/>
          </a:p>
        </p:txBody>
      </p:sp>
      <p:sp>
        <p:nvSpPr>
          <p:cNvPr id="23" name="Text 21"/>
          <p:cNvSpPr/>
          <p:nvPr/>
        </p:nvSpPr>
        <p:spPr>
          <a:xfrm>
            <a:off x="4846320" y="4937760"/>
            <a:ext cx="6537960" cy="868680"/>
          </a:xfrm>
          <a:prstGeom prst="rect">
            <a:avLst/>
          </a:prstGeom>
          <a:noFill/>
          <a:ln/>
        </p:spPr>
        <p:txBody>
          <a:bodyPr wrap="square" lIns="0" tIns="0" rIns="0" bIns="0" rtlCol="0" anchor="ctr"/>
          <a:lstStyle/>
          <a:p>
            <a:pPr indent="0" marL="0">
              <a:lnSpc>
                <a:spcPct val="115000"/>
              </a:lnSpc>
              <a:buNone/>
            </a:pPr>
            <a:r>
              <a:rPr lang="en-US" sz="1200" dirty="0">
                <a:solidFill>
                  <a:srgbClr val="9AAEC7"/>
                </a:solidFill>
                <a:latin typeface="Calibri" pitchFamily="34" charset="0"/>
                <a:ea typeface="Calibri" pitchFamily="34" charset="-122"/>
                <a:cs typeface="Calibri" pitchFamily="34" charset="-120"/>
              </a:rPr>
              <a:t>Time push notifications and content drops for the proven daytime plateau, when weekday viewers are already active.</a:t>
            </a:r>
            <a:endParaRPr lang="en-US" sz="1200" dirty="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9AAEC7"/>
                </a:solidFill>
                <a:latin typeface="Calibri" pitchFamily="34" charset="0"/>
                <a:ea typeface="Calibri" pitchFamily="34" charset="-122"/>
                <a:cs typeface="Calibri" pitchFamily="34" charset="-120"/>
              </a:rPr>
              <a:t>BrightTV  |  CVM Growth Insights</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9AAEC7"/>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9418320" y="-2194560"/>
            <a:ext cx="5943600" cy="5943600"/>
          </a:xfrm>
          <a:prstGeom prst="ellipse">
            <a:avLst/>
          </a:prstGeom>
          <a:solidFill>
            <a:srgbClr val="10192B"/>
          </a:solidFill>
          <a:ln/>
        </p:spPr>
      </p:sp>
      <p:sp>
        <p:nvSpPr>
          <p:cNvPr id="3" name="Text 1"/>
          <p:cNvSpPr/>
          <p:nvPr/>
        </p:nvSpPr>
        <p:spPr>
          <a:xfrm>
            <a:off x="777240" y="2331720"/>
            <a:ext cx="2743200" cy="1188720"/>
          </a:xfrm>
          <a:prstGeom prst="rect">
            <a:avLst/>
          </a:prstGeom>
          <a:noFill/>
          <a:ln/>
        </p:spPr>
        <p:txBody>
          <a:bodyPr wrap="square" lIns="0" tIns="0" rIns="0" bIns="0" rtlCol="0" anchor="ctr"/>
          <a:lstStyle/>
          <a:p>
            <a:pPr indent="0" marL="0">
              <a:buNone/>
            </a:pPr>
            <a:r>
              <a:rPr lang="en-US" sz="6000" b="1" dirty="0">
                <a:solidFill>
                  <a:srgbClr val="20304F"/>
                </a:solidFill>
                <a:latin typeface="Cambria" pitchFamily="34" charset="0"/>
                <a:ea typeface="Cambria" pitchFamily="34" charset="-122"/>
                <a:cs typeface="Cambria" pitchFamily="34" charset="-120"/>
              </a:rPr>
              <a:t>04</a:t>
            </a:r>
            <a:endParaRPr lang="en-US" sz="6000" dirty="0"/>
          </a:p>
        </p:txBody>
      </p:sp>
      <p:sp>
        <p:nvSpPr>
          <p:cNvPr id="4" name="Text 2"/>
          <p:cNvSpPr/>
          <p:nvPr/>
        </p:nvSpPr>
        <p:spPr>
          <a:xfrm>
            <a:off x="822960" y="3246120"/>
            <a:ext cx="7315200" cy="365760"/>
          </a:xfrm>
          <a:prstGeom prst="rect">
            <a:avLst/>
          </a:prstGeom>
          <a:noFill/>
          <a:ln/>
        </p:spPr>
        <p:txBody>
          <a:bodyPr wrap="square" lIns="0" tIns="0" rIns="0" bIns="0" rtlCol="0" anchor="ctr"/>
          <a:lstStyle/>
          <a:p>
            <a:pPr indent="0" marL="0">
              <a:buNone/>
            </a:pPr>
            <a:r>
              <a:rPr lang="en-US" sz="1300" b="1" spc="200" kern="0" dirty="0">
                <a:solidFill>
                  <a:srgbClr val="F2C14E"/>
                </a:solidFill>
                <a:latin typeface="Calibri" pitchFamily="34" charset="0"/>
                <a:ea typeface="Calibri" pitchFamily="34" charset="-122"/>
                <a:cs typeface="Calibri" pitchFamily="34" charset="-120"/>
              </a:rPr>
              <a:t>SECTION FOUR</a:t>
            </a:r>
            <a:endParaRPr lang="en-US" sz="1300" dirty="0"/>
          </a:p>
        </p:txBody>
      </p:sp>
      <p:sp>
        <p:nvSpPr>
          <p:cNvPr id="5" name="Text 3"/>
          <p:cNvSpPr/>
          <p:nvPr/>
        </p:nvSpPr>
        <p:spPr>
          <a:xfrm>
            <a:off x="777240" y="3566160"/>
            <a:ext cx="9601200" cy="1005840"/>
          </a:xfrm>
          <a:prstGeom prst="rect">
            <a:avLst/>
          </a:prstGeom>
          <a:noFill/>
          <a:ln/>
        </p:spPr>
        <p:txBody>
          <a:bodyPr wrap="square" lIns="0" tIns="0" rIns="0" bIns="0" rtlCol="0" anchor="ctr"/>
          <a:lstStyle/>
          <a:p>
            <a:pPr indent="0" marL="0">
              <a:buNone/>
            </a:pPr>
            <a:r>
              <a:rPr lang="en-US" sz="3600" b="1" dirty="0">
                <a:solidFill>
                  <a:srgbClr val="F5F7FA"/>
                </a:solidFill>
                <a:latin typeface="Cambria" pitchFamily="34" charset="0"/>
                <a:ea typeface="Cambria" pitchFamily="34" charset="-122"/>
                <a:cs typeface="Cambria" pitchFamily="34" charset="-120"/>
              </a:rPr>
              <a:t>Growth Initiatives</a:t>
            </a:r>
            <a:endParaRPr lang="en-US" sz="3600" dirty="0"/>
          </a:p>
        </p:txBody>
      </p:sp>
      <p:sp>
        <p:nvSpPr>
          <p:cNvPr id="6" name="Text 4"/>
          <p:cNvSpPr/>
          <p:nvPr/>
        </p:nvSpPr>
        <p:spPr>
          <a:xfrm>
            <a:off x="822960" y="4434840"/>
            <a:ext cx="8686800" cy="548640"/>
          </a:xfrm>
          <a:prstGeom prst="rect">
            <a:avLst/>
          </a:prstGeom>
          <a:noFill/>
          <a:ln/>
        </p:spPr>
        <p:txBody>
          <a:bodyPr wrap="square" lIns="0" tIns="0" rIns="0" bIns="0" rtlCol="0" anchor="ctr"/>
          <a:lstStyle/>
          <a:p>
            <a:pPr indent="0" marL="0">
              <a:buNone/>
            </a:pPr>
            <a:r>
              <a:rPr lang="en-US" sz="1400" i="1" dirty="0">
                <a:solidFill>
                  <a:srgbClr val="9AAEC7"/>
                </a:solidFill>
                <a:latin typeface="Calibri" pitchFamily="34" charset="0"/>
                <a:ea typeface="Calibri" pitchFamily="34" charset="-122"/>
                <a:cs typeface="Calibri" pitchFamily="34" charset="-120"/>
              </a:rPr>
              <a:t>Recommendations to grow BrightTV's subscription base this year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F2C14E"/>
                </a:solidFill>
                <a:latin typeface="Calibri" pitchFamily="34" charset="0"/>
                <a:ea typeface="Calibri" pitchFamily="34" charset="-122"/>
                <a:cs typeface="Calibri" pitchFamily="34" charset="-120"/>
              </a:rPr>
              <a:t>RECOMMENDATION</a:t>
            </a:r>
            <a:endParaRPr lang="en-US" sz="125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Five Initiatives to Grow the Subscriber Base</a:t>
            </a:r>
            <a:endParaRPr lang="en-US" sz="3000" dirty="0"/>
          </a:p>
        </p:txBody>
      </p:sp>
      <p:sp>
        <p:nvSpPr>
          <p:cNvPr id="4" name="Shape 2"/>
          <p:cNvSpPr/>
          <p:nvPr/>
        </p:nvSpPr>
        <p:spPr>
          <a:xfrm>
            <a:off x="548640" y="1691640"/>
            <a:ext cx="11064240" cy="722376"/>
          </a:xfrm>
          <a:prstGeom prst="roundRect">
            <a:avLst>
              <a:gd name="adj" fmla="val 7595"/>
            </a:avLst>
          </a:prstGeom>
          <a:solidFill>
            <a:srgbClr val="141C2E"/>
          </a:solidFill>
          <a:ln w="12700">
            <a:solidFill>
              <a:srgbClr val="26314A"/>
            </a:solidFill>
            <a:prstDash val="solid"/>
          </a:ln>
        </p:spPr>
      </p:sp>
      <p:sp>
        <p:nvSpPr>
          <p:cNvPr id="5" name="Shape 3"/>
          <p:cNvSpPr/>
          <p:nvPr/>
        </p:nvSpPr>
        <p:spPr>
          <a:xfrm>
            <a:off x="777240" y="1906524"/>
            <a:ext cx="292608" cy="292608"/>
          </a:xfrm>
          <a:prstGeom prst="ellipse">
            <a:avLst/>
          </a:prstGeom>
          <a:solidFill>
            <a:srgbClr val="E6635A"/>
          </a:solidFill>
          <a:ln/>
        </p:spPr>
      </p:sp>
      <p:sp>
        <p:nvSpPr>
          <p:cNvPr id="6" name="Text 4"/>
          <p:cNvSpPr/>
          <p:nvPr/>
        </p:nvSpPr>
        <p:spPr>
          <a:xfrm>
            <a:off x="1234440" y="1691640"/>
            <a:ext cx="3246120" cy="722376"/>
          </a:xfrm>
          <a:prstGeom prst="rect">
            <a:avLst/>
          </a:prstGeom>
          <a:noFill/>
          <a:ln/>
        </p:spPr>
        <p:txBody>
          <a:bodyPr wrap="square" lIns="0" tIns="0" rIns="0" bIns="0" rtlCol="0" anchor="ctr"/>
          <a:lstStyle/>
          <a:p>
            <a:pPr indent="0" marL="0">
              <a:lnSpc>
                <a:spcPct val="105000"/>
              </a:lnSpc>
              <a:buNone/>
            </a:pPr>
            <a:r>
              <a:rPr lang="en-US" sz="1350" b="1" dirty="0">
                <a:solidFill>
                  <a:srgbClr val="F5F7FA"/>
                </a:solidFill>
                <a:latin typeface="Calibri" pitchFamily="34" charset="0"/>
                <a:ea typeface="Calibri" pitchFamily="34" charset="-122"/>
                <a:cs typeface="Calibri" pitchFamily="34" charset="-120"/>
              </a:rPr>
              <a:t>Protect &amp; expand live-sport rights</a:t>
            </a:r>
            <a:endParaRPr lang="en-US" sz="1350" dirty="0"/>
          </a:p>
        </p:txBody>
      </p:sp>
      <p:sp>
        <p:nvSpPr>
          <p:cNvPr id="7" name="Text 5"/>
          <p:cNvSpPr/>
          <p:nvPr/>
        </p:nvSpPr>
        <p:spPr>
          <a:xfrm>
            <a:off x="4572000" y="1691640"/>
            <a:ext cx="6766560" cy="722376"/>
          </a:xfrm>
          <a:prstGeom prst="rect">
            <a:avLst/>
          </a:prstGeom>
          <a:noFill/>
          <a:ln/>
        </p:spPr>
        <p:txBody>
          <a:bodyPr wrap="square" lIns="0" tIns="0" rIns="0" bIns="0" rtlCol="0" anchor="ctr"/>
          <a:lstStyle/>
          <a:p>
            <a:pPr indent="0" marL="0">
              <a:lnSpc>
                <a:spcPct val="112000"/>
              </a:lnSpc>
              <a:buNone/>
            </a:pPr>
            <a:r>
              <a:rPr lang="en-US" sz="1180" dirty="0">
                <a:solidFill>
                  <a:srgbClr val="9AAEC7"/>
                </a:solidFill>
                <a:latin typeface="Calibri" pitchFamily="34" charset="0"/>
                <a:ea typeface="Calibri" pitchFamily="34" charset="-122"/>
                <a:cs typeface="Calibri" pitchFamily="34" charset="-120"/>
              </a:rPr>
              <a:t>Live sport is the #1 engagement driver — make it the flagship offer in acquisition marketing.</a:t>
            </a:r>
            <a:endParaRPr lang="en-US" sz="1180" dirty="0"/>
          </a:p>
        </p:txBody>
      </p:sp>
      <p:sp>
        <p:nvSpPr>
          <p:cNvPr id="8" name="Shape 6"/>
          <p:cNvSpPr/>
          <p:nvPr/>
        </p:nvSpPr>
        <p:spPr>
          <a:xfrm>
            <a:off x="548640" y="2560320"/>
            <a:ext cx="11064240" cy="722376"/>
          </a:xfrm>
          <a:prstGeom prst="roundRect">
            <a:avLst>
              <a:gd name="adj" fmla="val 7595"/>
            </a:avLst>
          </a:prstGeom>
          <a:solidFill>
            <a:srgbClr val="1B2540"/>
          </a:solidFill>
          <a:ln w="12700">
            <a:solidFill>
              <a:srgbClr val="26314A"/>
            </a:solidFill>
            <a:prstDash val="solid"/>
          </a:ln>
        </p:spPr>
      </p:sp>
      <p:sp>
        <p:nvSpPr>
          <p:cNvPr id="9" name="Shape 7"/>
          <p:cNvSpPr/>
          <p:nvPr/>
        </p:nvSpPr>
        <p:spPr>
          <a:xfrm>
            <a:off x="777240" y="2775204"/>
            <a:ext cx="292608" cy="292608"/>
          </a:xfrm>
          <a:prstGeom prst="ellipse">
            <a:avLst/>
          </a:prstGeom>
          <a:solidFill>
            <a:srgbClr val="2FB3D6"/>
          </a:solidFill>
          <a:ln/>
        </p:spPr>
      </p:sp>
      <p:sp>
        <p:nvSpPr>
          <p:cNvPr id="10" name="Text 8"/>
          <p:cNvSpPr/>
          <p:nvPr/>
        </p:nvSpPr>
        <p:spPr>
          <a:xfrm>
            <a:off x="1234440" y="2560320"/>
            <a:ext cx="3246120" cy="722376"/>
          </a:xfrm>
          <a:prstGeom prst="rect">
            <a:avLst/>
          </a:prstGeom>
          <a:noFill/>
          <a:ln/>
        </p:spPr>
        <p:txBody>
          <a:bodyPr wrap="square" lIns="0" tIns="0" rIns="0" bIns="0" rtlCol="0" anchor="ctr"/>
          <a:lstStyle/>
          <a:p>
            <a:pPr indent="0" marL="0">
              <a:lnSpc>
                <a:spcPct val="105000"/>
              </a:lnSpc>
              <a:buNone/>
            </a:pPr>
            <a:r>
              <a:rPr lang="en-US" sz="1350" b="1" dirty="0">
                <a:solidFill>
                  <a:srgbClr val="F5F7FA"/>
                </a:solidFill>
                <a:latin typeface="Calibri" pitchFamily="34" charset="0"/>
                <a:ea typeface="Calibri" pitchFamily="34" charset="-122"/>
                <a:cs typeface="Calibri" pitchFamily="34" charset="-120"/>
              </a:rPr>
              <a:t>Launch youth-first bundles</a:t>
            </a:r>
            <a:endParaRPr lang="en-US" sz="1350" dirty="0"/>
          </a:p>
        </p:txBody>
      </p:sp>
      <p:sp>
        <p:nvSpPr>
          <p:cNvPr id="11" name="Text 9"/>
          <p:cNvSpPr/>
          <p:nvPr/>
        </p:nvSpPr>
        <p:spPr>
          <a:xfrm>
            <a:off x="4572000" y="2560320"/>
            <a:ext cx="6766560" cy="722376"/>
          </a:xfrm>
          <a:prstGeom prst="rect">
            <a:avLst/>
          </a:prstGeom>
          <a:noFill/>
          <a:ln/>
        </p:spPr>
        <p:txBody>
          <a:bodyPr wrap="square" lIns="0" tIns="0" rIns="0" bIns="0" rtlCol="0" anchor="ctr"/>
          <a:lstStyle/>
          <a:p>
            <a:pPr indent="0" marL="0">
              <a:lnSpc>
                <a:spcPct val="112000"/>
              </a:lnSpc>
              <a:buNone/>
            </a:pPr>
            <a:r>
              <a:rPr lang="en-US" sz="1180" dirty="0">
                <a:solidFill>
                  <a:srgbClr val="9AAEC7"/>
                </a:solidFill>
                <a:latin typeface="Calibri" pitchFamily="34" charset="0"/>
                <a:ea typeface="Calibri" pitchFamily="34" charset="-122"/>
                <a:cs typeface="Calibri" pitchFamily="34" charset="-120"/>
              </a:rPr>
              <a:t>Price and package around the segment already generating 60% of views to convert casual youth viewers into subscribers.</a:t>
            </a:r>
            <a:endParaRPr lang="en-US" sz="1180" dirty="0"/>
          </a:p>
        </p:txBody>
      </p:sp>
      <p:sp>
        <p:nvSpPr>
          <p:cNvPr id="12" name="Shape 10"/>
          <p:cNvSpPr/>
          <p:nvPr/>
        </p:nvSpPr>
        <p:spPr>
          <a:xfrm>
            <a:off x="548640" y="3429000"/>
            <a:ext cx="11064240" cy="722376"/>
          </a:xfrm>
          <a:prstGeom prst="roundRect">
            <a:avLst>
              <a:gd name="adj" fmla="val 7595"/>
            </a:avLst>
          </a:prstGeom>
          <a:solidFill>
            <a:srgbClr val="141C2E"/>
          </a:solidFill>
          <a:ln w="12700">
            <a:solidFill>
              <a:srgbClr val="26314A"/>
            </a:solidFill>
            <a:prstDash val="solid"/>
          </a:ln>
        </p:spPr>
      </p:sp>
      <p:sp>
        <p:nvSpPr>
          <p:cNvPr id="13" name="Shape 11"/>
          <p:cNvSpPr/>
          <p:nvPr/>
        </p:nvSpPr>
        <p:spPr>
          <a:xfrm>
            <a:off x="777240" y="3643884"/>
            <a:ext cx="292608" cy="292608"/>
          </a:xfrm>
          <a:prstGeom prst="ellipse">
            <a:avLst/>
          </a:prstGeom>
          <a:solidFill>
            <a:srgbClr val="3FC28A"/>
          </a:solidFill>
          <a:ln/>
        </p:spPr>
      </p:sp>
      <p:sp>
        <p:nvSpPr>
          <p:cNvPr id="14" name="Text 12"/>
          <p:cNvSpPr/>
          <p:nvPr/>
        </p:nvSpPr>
        <p:spPr>
          <a:xfrm>
            <a:off x="1234440" y="3429000"/>
            <a:ext cx="3246120" cy="722376"/>
          </a:xfrm>
          <a:prstGeom prst="rect">
            <a:avLst/>
          </a:prstGeom>
          <a:noFill/>
          <a:ln/>
        </p:spPr>
        <p:txBody>
          <a:bodyPr wrap="square" lIns="0" tIns="0" rIns="0" bIns="0" rtlCol="0" anchor="ctr"/>
          <a:lstStyle/>
          <a:p>
            <a:pPr indent="0" marL="0">
              <a:lnSpc>
                <a:spcPct val="105000"/>
              </a:lnSpc>
              <a:buNone/>
            </a:pPr>
            <a:r>
              <a:rPr lang="en-US" sz="1350" b="1" dirty="0">
                <a:solidFill>
                  <a:srgbClr val="F5F7FA"/>
                </a:solidFill>
                <a:latin typeface="Calibri" pitchFamily="34" charset="0"/>
                <a:ea typeface="Calibri" pitchFamily="34" charset="-122"/>
                <a:cs typeface="Calibri" pitchFamily="34" charset="-120"/>
              </a:rPr>
              <a:t>Win back Young &amp; Senior segments</a:t>
            </a:r>
            <a:endParaRPr lang="en-US" sz="1350" dirty="0"/>
          </a:p>
        </p:txBody>
      </p:sp>
      <p:sp>
        <p:nvSpPr>
          <p:cNvPr id="15" name="Text 13"/>
          <p:cNvSpPr/>
          <p:nvPr/>
        </p:nvSpPr>
        <p:spPr>
          <a:xfrm>
            <a:off x="4572000" y="3429000"/>
            <a:ext cx="6766560" cy="722376"/>
          </a:xfrm>
          <a:prstGeom prst="rect">
            <a:avLst/>
          </a:prstGeom>
          <a:noFill/>
          <a:ln/>
        </p:spPr>
        <p:txBody>
          <a:bodyPr wrap="square" lIns="0" tIns="0" rIns="0" bIns="0" rtlCol="0" anchor="ctr"/>
          <a:lstStyle/>
          <a:p>
            <a:pPr indent="0" marL="0">
              <a:lnSpc>
                <a:spcPct val="112000"/>
              </a:lnSpc>
              <a:buNone/>
            </a:pPr>
            <a:r>
              <a:rPr lang="en-US" sz="1180" dirty="0">
                <a:solidFill>
                  <a:srgbClr val="9AAEC7"/>
                </a:solidFill>
                <a:latin typeface="Calibri" pitchFamily="34" charset="0"/>
                <a:ea typeface="Calibri" pitchFamily="34" charset="-122"/>
                <a:cs typeface="Calibri" pitchFamily="34" charset="-120"/>
              </a:rPr>
              <a:t>These groups are under 6% of views — develop family and senior-friendly content plus tailored pricing to diversify the base.</a:t>
            </a:r>
            <a:endParaRPr lang="en-US" sz="1180" dirty="0"/>
          </a:p>
        </p:txBody>
      </p:sp>
      <p:sp>
        <p:nvSpPr>
          <p:cNvPr id="16" name="Shape 14"/>
          <p:cNvSpPr/>
          <p:nvPr/>
        </p:nvSpPr>
        <p:spPr>
          <a:xfrm>
            <a:off x="548640" y="4297680"/>
            <a:ext cx="11064240" cy="722376"/>
          </a:xfrm>
          <a:prstGeom prst="roundRect">
            <a:avLst>
              <a:gd name="adj" fmla="val 7595"/>
            </a:avLst>
          </a:prstGeom>
          <a:solidFill>
            <a:srgbClr val="1B2540"/>
          </a:solidFill>
          <a:ln w="12700">
            <a:solidFill>
              <a:srgbClr val="26314A"/>
            </a:solidFill>
            <a:prstDash val="solid"/>
          </a:ln>
        </p:spPr>
      </p:sp>
      <p:sp>
        <p:nvSpPr>
          <p:cNvPr id="17" name="Shape 15"/>
          <p:cNvSpPr/>
          <p:nvPr/>
        </p:nvSpPr>
        <p:spPr>
          <a:xfrm>
            <a:off x="777240" y="4512564"/>
            <a:ext cx="292608" cy="292608"/>
          </a:xfrm>
          <a:prstGeom prst="ellipse">
            <a:avLst/>
          </a:prstGeom>
          <a:solidFill>
            <a:srgbClr val="F2C14E"/>
          </a:solidFill>
          <a:ln/>
        </p:spPr>
      </p:sp>
      <p:sp>
        <p:nvSpPr>
          <p:cNvPr id="18" name="Text 16"/>
          <p:cNvSpPr/>
          <p:nvPr/>
        </p:nvSpPr>
        <p:spPr>
          <a:xfrm>
            <a:off x="1234440" y="4297680"/>
            <a:ext cx="3246120" cy="722376"/>
          </a:xfrm>
          <a:prstGeom prst="rect">
            <a:avLst/>
          </a:prstGeom>
          <a:noFill/>
          <a:ln/>
        </p:spPr>
        <p:txBody>
          <a:bodyPr wrap="square" lIns="0" tIns="0" rIns="0" bIns="0" rtlCol="0" anchor="ctr"/>
          <a:lstStyle/>
          <a:p>
            <a:pPr indent="0" marL="0">
              <a:lnSpc>
                <a:spcPct val="105000"/>
              </a:lnSpc>
              <a:buNone/>
            </a:pPr>
            <a:r>
              <a:rPr lang="en-US" sz="1350" b="1" dirty="0">
                <a:solidFill>
                  <a:srgbClr val="F5F7FA"/>
                </a:solidFill>
                <a:latin typeface="Calibri" pitchFamily="34" charset="0"/>
                <a:ea typeface="Calibri" pitchFamily="34" charset="-122"/>
                <a:cs typeface="Calibri" pitchFamily="34" charset="-120"/>
              </a:rPr>
              <a:t>Grow female viewership</a:t>
            </a:r>
            <a:endParaRPr lang="en-US" sz="1350" dirty="0"/>
          </a:p>
        </p:txBody>
      </p:sp>
      <p:sp>
        <p:nvSpPr>
          <p:cNvPr id="19" name="Text 17"/>
          <p:cNvSpPr/>
          <p:nvPr/>
        </p:nvSpPr>
        <p:spPr>
          <a:xfrm>
            <a:off x="4572000" y="4297680"/>
            <a:ext cx="6766560" cy="722376"/>
          </a:xfrm>
          <a:prstGeom prst="rect">
            <a:avLst/>
          </a:prstGeom>
          <a:noFill/>
          <a:ln/>
        </p:spPr>
        <p:txBody>
          <a:bodyPr wrap="square" lIns="0" tIns="0" rIns="0" bIns="0" rtlCol="0" anchor="ctr"/>
          <a:lstStyle/>
          <a:p>
            <a:pPr indent="0" marL="0">
              <a:lnSpc>
                <a:spcPct val="112000"/>
              </a:lnSpc>
              <a:buNone/>
            </a:pPr>
            <a:r>
              <a:rPr lang="en-US" sz="1180" dirty="0">
                <a:solidFill>
                  <a:srgbClr val="9AAEC7"/>
                </a:solidFill>
                <a:latin typeface="Calibri" pitchFamily="34" charset="0"/>
                <a:ea typeface="Calibri" pitchFamily="34" charset="-122"/>
                <a:cs typeface="Calibri" pitchFamily="34" charset="-120"/>
              </a:rPr>
              <a:t>Female viewing lags male viewing in every race group — targeted content and campaigns represent a large untapped pool.</a:t>
            </a:r>
            <a:endParaRPr lang="en-US" sz="1180" dirty="0"/>
          </a:p>
        </p:txBody>
      </p:sp>
      <p:sp>
        <p:nvSpPr>
          <p:cNvPr id="20" name="Shape 18"/>
          <p:cNvSpPr/>
          <p:nvPr/>
        </p:nvSpPr>
        <p:spPr>
          <a:xfrm>
            <a:off x="548640" y="5166360"/>
            <a:ext cx="11064240" cy="722376"/>
          </a:xfrm>
          <a:prstGeom prst="roundRect">
            <a:avLst>
              <a:gd name="adj" fmla="val 7595"/>
            </a:avLst>
          </a:prstGeom>
          <a:solidFill>
            <a:srgbClr val="141C2E"/>
          </a:solidFill>
          <a:ln w="12700">
            <a:solidFill>
              <a:srgbClr val="26314A"/>
            </a:solidFill>
            <a:prstDash val="solid"/>
          </a:ln>
        </p:spPr>
      </p:sp>
      <p:sp>
        <p:nvSpPr>
          <p:cNvPr id="21" name="Shape 19"/>
          <p:cNvSpPr/>
          <p:nvPr/>
        </p:nvSpPr>
        <p:spPr>
          <a:xfrm>
            <a:off x="777240" y="5381244"/>
            <a:ext cx="292608" cy="292608"/>
          </a:xfrm>
          <a:prstGeom prst="ellipse">
            <a:avLst/>
          </a:prstGeom>
          <a:solidFill>
            <a:srgbClr val="F5F7FA"/>
          </a:solidFill>
          <a:ln/>
        </p:spPr>
      </p:sp>
      <p:sp>
        <p:nvSpPr>
          <p:cNvPr id="22" name="Text 20"/>
          <p:cNvSpPr/>
          <p:nvPr/>
        </p:nvSpPr>
        <p:spPr>
          <a:xfrm>
            <a:off x="1234440" y="5166360"/>
            <a:ext cx="3246120" cy="722376"/>
          </a:xfrm>
          <a:prstGeom prst="rect">
            <a:avLst/>
          </a:prstGeom>
          <a:noFill/>
          <a:ln/>
        </p:spPr>
        <p:txBody>
          <a:bodyPr wrap="square" lIns="0" tIns="0" rIns="0" bIns="0" rtlCol="0" anchor="ctr"/>
          <a:lstStyle/>
          <a:p>
            <a:pPr indent="0" marL="0">
              <a:lnSpc>
                <a:spcPct val="105000"/>
              </a:lnSpc>
              <a:buNone/>
            </a:pPr>
            <a:r>
              <a:rPr lang="en-US" sz="1350" b="1" dirty="0">
                <a:solidFill>
                  <a:srgbClr val="F5F7FA"/>
                </a:solidFill>
                <a:latin typeface="Calibri" pitchFamily="34" charset="0"/>
                <a:ea typeface="Calibri" pitchFamily="34" charset="-122"/>
                <a:cs typeface="Calibri" pitchFamily="34" charset="-120"/>
              </a:rPr>
              <a:t>Smooth out the week</a:t>
            </a:r>
            <a:endParaRPr lang="en-US" sz="1350" dirty="0"/>
          </a:p>
        </p:txBody>
      </p:sp>
      <p:sp>
        <p:nvSpPr>
          <p:cNvPr id="23" name="Text 21"/>
          <p:cNvSpPr/>
          <p:nvPr/>
        </p:nvSpPr>
        <p:spPr>
          <a:xfrm>
            <a:off x="4572000" y="5166360"/>
            <a:ext cx="6766560" cy="722376"/>
          </a:xfrm>
          <a:prstGeom prst="rect">
            <a:avLst/>
          </a:prstGeom>
          <a:noFill/>
          <a:ln/>
        </p:spPr>
        <p:txBody>
          <a:bodyPr wrap="square" lIns="0" tIns="0" rIns="0" bIns="0" rtlCol="0" anchor="ctr"/>
          <a:lstStyle/>
          <a:p>
            <a:pPr indent="0" marL="0">
              <a:lnSpc>
                <a:spcPct val="112000"/>
              </a:lnSpc>
              <a:buNone/>
            </a:pPr>
            <a:r>
              <a:rPr lang="en-US" sz="1180" dirty="0">
                <a:solidFill>
                  <a:srgbClr val="9AAEC7"/>
                </a:solidFill>
                <a:latin typeface="Calibri" pitchFamily="34" charset="0"/>
                <a:ea typeface="Calibri" pitchFamily="34" charset="-122"/>
                <a:cs typeface="Calibri" pitchFamily="34" charset="-120"/>
              </a:rPr>
              <a:t>Use off-peak pricing, reminders and Monday/Tuesday programming (see previous slide) to convert one-off weekend viewers into daily habits.</a:t>
            </a:r>
            <a:endParaRPr lang="en-US" sz="1180" dirty="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9AAEC7"/>
                </a:solidFill>
                <a:latin typeface="Calibri" pitchFamily="34" charset="0"/>
                <a:ea typeface="Calibri" pitchFamily="34" charset="-122"/>
                <a:cs typeface="Calibri" pitchFamily="34" charset="-120"/>
              </a:rPr>
              <a:t>BrightTV  |  CVM Growth Insights</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9AAEC7"/>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2FB3D6"/>
                </a:solidFill>
                <a:latin typeface="Calibri" pitchFamily="34" charset="0"/>
                <a:ea typeface="Calibri" pitchFamily="34" charset="-122"/>
                <a:cs typeface="Calibri" pitchFamily="34" charset="-120"/>
              </a:rPr>
              <a:t>SECTION FIVE</a:t>
            </a:r>
            <a:endParaRPr lang="en-US" sz="125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5F7FA"/>
                </a:solidFill>
                <a:latin typeface="Cambria" pitchFamily="34" charset="0"/>
                <a:ea typeface="Cambria" pitchFamily="34" charset="-122"/>
                <a:cs typeface="Cambria" pitchFamily="34" charset="-120"/>
              </a:rPr>
              <a:t>Summary &amp; Next Steps</a:t>
            </a:r>
            <a:endParaRPr lang="en-US" sz="3000" dirty="0"/>
          </a:p>
        </p:txBody>
      </p:sp>
      <p:sp>
        <p:nvSpPr>
          <p:cNvPr id="4" name="Text 2"/>
          <p:cNvSpPr/>
          <p:nvPr/>
        </p:nvSpPr>
        <p:spPr>
          <a:xfrm>
            <a:off x="548640" y="1691640"/>
            <a:ext cx="5303520" cy="365760"/>
          </a:xfrm>
          <a:prstGeom prst="rect">
            <a:avLst/>
          </a:prstGeom>
          <a:noFill/>
          <a:ln/>
        </p:spPr>
        <p:txBody>
          <a:bodyPr wrap="square" lIns="0" tIns="0" rIns="0" bIns="0" rtlCol="0" anchor="ctr"/>
          <a:lstStyle/>
          <a:p>
            <a:pPr indent="0" marL="0">
              <a:buNone/>
            </a:pPr>
            <a:r>
              <a:rPr lang="en-US" sz="1400" b="1" dirty="0">
                <a:solidFill>
                  <a:srgbClr val="F2C14E"/>
                </a:solidFill>
                <a:latin typeface="Calibri" pitchFamily="34" charset="0"/>
                <a:ea typeface="Calibri" pitchFamily="34" charset="-122"/>
                <a:cs typeface="Calibri" pitchFamily="34" charset="-120"/>
              </a:rPr>
              <a:t>Where we are</a:t>
            </a:r>
            <a:endParaRPr lang="en-US" sz="1400" dirty="0"/>
          </a:p>
        </p:txBody>
      </p:sp>
      <p:sp>
        <p:nvSpPr>
          <p:cNvPr id="5" name="Text 3"/>
          <p:cNvSpPr/>
          <p:nvPr/>
        </p:nvSpPr>
        <p:spPr>
          <a:xfrm>
            <a:off x="548640" y="2103120"/>
            <a:ext cx="5303520" cy="219456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300" dirty="0">
                <a:solidFill>
                  <a:srgbClr val="F5F7FA"/>
                </a:solidFill>
                <a:latin typeface="Calibri" pitchFamily="34" charset="0"/>
                <a:ea typeface="Calibri" pitchFamily="34" charset="-122"/>
                <a:cs typeface="Calibri" pitchFamily="34" charset="-120"/>
              </a:rPr>
              <a:t>9,995 users, +114% active-user growth Jan–Mar, average viewing of 9.14 per user.</a:t>
            </a:r>
            <a:endParaRPr lang="en-US" sz="1300" dirty="0"/>
          </a:p>
          <a:p>
            <a:pPr marL="342900" indent="-342900">
              <a:lnSpc>
                <a:spcPct val="120000"/>
              </a:lnSpc>
              <a:spcAft>
                <a:spcPts val="1000"/>
              </a:spcAft>
              <a:buSzPct val="100000"/>
              <a:buChar char="•"/>
            </a:pPr>
            <a:r>
              <a:rPr lang="en-US" sz="1300" dirty="0">
                <a:solidFill>
                  <a:srgbClr val="F5F7FA"/>
                </a:solidFill>
                <a:latin typeface="Calibri" pitchFamily="34" charset="0"/>
                <a:ea typeface="Calibri" pitchFamily="34" charset="-122"/>
                <a:cs typeface="Calibri" pitchFamily="34" charset="-120"/>
              </a:rPr>
              <a:t>Consumption is concentrated in live sport, weekends, and the 10:00–18:00 window.</a:t>
            </a:r>
            <a:endParaRPr lang="en-US" sz="1300" dirty="0"/>
          </a:p>
          <a:p>
            <a:pPr marL="342900" indent="-342900">
              <a:lnSpc>
                <a:spcPct val="120000"/>
              </a:lnSpc>
              <a:spcAft>
                <a:spcPts val="1000"/>
              </a:spcAft>
              <a:buSzPct val="100000"/>
              <a:buChar char="•"/>
            </a:pPr>
            <a:r>
              <a:rPr lang="en-US" sz="1300" dirty="0">
                <a:solidFill>
                  <a:srgbClr val="F5F7FA"/>
                </a:solidFill>
                <a:latin typeface="Calibri" pitchFamily="34" charset="0"/>
                <a:ea typeface="Calibri" pitchFamily="34" charset="-122"/>
                <a:cs typeface="Calibri" pitchFamily="34" charset="-120"/>
              </a:rPr>
              <a:t>Youth and male viewers drive the majority of views today.</a:t>
            </a:r>
            <a:endParaRPr lang="en-US" sz="1300" dirty="0"/>
          </a:p>
        </p:txBody>
      </p:sp>
      <p:sp>
        <p:nvSpPr>
          <p:cNvPr id="6" name="Text 4"/>
          <p:cNvSpPr/>
          <p:nvPr/>
        </p:nvSpPr>
        <p:spPr>
          <a:xfrm>
            <a:off x="6309360" y="1691640"/>
            <a:ext cx="5303520" cy="365760"/>
          </a:xfrm>
          <a:prstGeom prst="rect">
            <a:avLst/>
          </a:prstGeom>
          <a:noFill/>
          <a:ln/>
        </p:spPr>
        <p:txBody>
          <a:bodyPr wrap="square" lIns="0" tIns="0" rIns="0" bIns="0" rtlCol="0" anchor="ctr"/>
          <a:lstStyle/>
          <a:p>
            <a:pPr indent="0" marL="0">
              <a:buNone/>
            </a:pPr>
            <a:r>
              <a:rPr lang="en-US" sz="1400" b="1" dirty="0">
                <a:solidFill>
                  <a:srgbClr val="F2C14E"/>
                </a:solidFill>
                <a:latin typeface="Calibri" pitchFamily="34" charset="0"/>
                <a:ea typeface="Calibri" pitchFamily="34" charset="-122"/>
                <a:cs typeface="Calibri" pitchFamily="34" charset="-120"/>
              </a:rPr>
              <a:t>Where we focus next</a:t>
            </a:r>
            <a:endParaRPr lang="en-US" sz="1400" dirty="0"/>
          </a:p>
        </p:txBody>
      </p:sp>
      <p:sp>
        <p:nvSpPr>
          <p:cNvPr id="7" name="Text 5"/>
          <p:cNvSpPr/>
          <p:nvPr/>
        </p:nvSpPr>
        <p:spPr>
          <a:xfrm>
            <a:off x="6309360" y="2103120"/>
            <a:ext cx="5303520" cy="219456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300" dirty="0">
                <a:solidFill>
                  <a:srgbClr val="F5F7FA"/>
                </a:solidFill>
                <a:latin typeface="Calibri" pitchFamily="34" charset="0"/>
                <a:ea typeface="Calibri" pitchFamily="34" charset="-122"/>
                <a:cs typeface="Calibri" pitchFamily="34" charset="-120"/>
              </a:rPr>
              <a:t>Fill Monday/Tuesday with live-sport and youth-first premieres.</a:t>
            </a:r>
            <a:endParaRPr lang="en-US" sz="1300" dirty="0"/>
          </a:p>
          <a:p>
            <a:pPr marL="342900" indent="-342900">
              <a:lnSpc>
                <a:spcPct val="120000"/>
              </a:lnSpc>
              <a:spcAft>
                <a:spcPts val="1000"/>
              </a:spcAft>
              <a:buSzPct val="100000"/>
              <a:buChar char="•"/>
            </a:pPr>
            <a:r>
              <a:rPr lang="en-US" sz="1300" dirty="0">
                <a:solidFill>
                  <a:srgbClr val="F5F7FA"/>
                </a:solidFill>
                <a:latin typeface="Calibri" pitchFamily="34" charset="0"/>
                <a:ea typeface="Calibri" pitchFamily="34" charset="-122"/>
                <a:cs typeface="Calibri" pitchFamily="34" charset="-120"/>
              </a:rPr>
              <a:t>Package youth-first bundles anchored on live-sport exclusivity.</a:t>
            </a:r>
            <a:endParaRPr lang="en-US" sz="1300" dirty="0"/>
          </a:p>
          <a:p>
            <a:pPr marL="342900" indent="-342900">
              <a:lnSpc>
                <a:spcPct val="120000"/>
              </a:lnSpc>
              <a:spcAft>
                <a:spcPts val="1000"/>
              </a:spcAft>
              <a:buSzPct val="100000"/>
              <a:buChar char="•"/>
            </a:pPr>
            <a:r>
              <a:rPr lang="en-US" sz="1300" dirty="0">
                <a:solidFill>
                  <a:srgbClr val="F5F7FA"/>
                </a:solidFill>
                <a:latin typeface="Calibri" pitchFamily="34" charset="0"/>
                <a:ea typeface="Calibri" pitchFamily="34" charset="-122"/>
                <a:cs typeface="Calibri" pitchFamily="34" charset="-120"/>
              </a:rPr>
              <a:t>Pilot content and campaigns to grow female, Young and Senior viewership.</a:t>
            </a:r>
            <a:endParaRPr lang="en-US" sz="1300" dirty="0"/>
          </a:p>
        </p:txBody>
      </p:sp>
      <p:sp>
        <p:nvSpPr>
          <p:cNvPr id="8" name="Shape 6"/>
          <p:cNvSpPr/>
          <p:nvPr/>
        </p:nvSpPr>
        <p:spPr>
          <a:xfrm>
            <a:off x="548640" y="4617720"/>
            <a:ext cx="11064240" cy="1417320"/>
          </a:xfrm>
          <a:prstGeom prst="roundRect">
            <a:avLst>
              <a:gd name="adj" fmla="val 5161"/>
            </a:avLst>
          </a:prstGeom>
          <a:solidFill>
            <a:srgbClr val="1B2540"/>
          </a:solidFill>
          <a:ln w="12700">
            <a:solidFill>
              <a:srgbClr val="26314A"/>
            </a:solidFill>
            <a:prstDash val="solid"/>
          </a:ln>
        </p:spPr>
      </p:sp>
      <p:sp>
        <p:nvSpPr>
          <p:cNvPr id="9" name="Text 7"/>
          <p:cNvSpPr/>
          <p:nvPr/>
        </p:nvSpPr>
        <p:spPr>
          <a:xfrm>
            <a:off x="868680" y="4800600"/>
            <a:ext cx="7315200" cy="320040"/>
          </a:xfrm>
          <a:prstGeom prst="rect">
            <a:avLst/>
          </a:prstGeom>
          <a:noFill/>
          <a:ln/>
        </p:spPr>
        <p:txBody>
          <a:bodyPr wrap="square" lIns="0" tIns="0" rIns="0" bIns="0" rtlCol="0" anchor="ctr"/>
          <a:lstStyle/>
          <a:p>
            <a:pPr indent="0" marL="0">
              <a:buNone/>
            </a:pPr>
            <a:r>
              <a:rPr lang="en-US" sz="1300" b="1" dirty="0">
                <a:solidFill>
                  <a:srgbClr val="2FB3D6"/>
                </a:solidFill>
                <a:latin typeface="Calibri" pitchFamily="34" charset="0"/>
                <a:ea typeface="Calibri" pitchFamily="34" charset="-122"/>
                <a:cs typeface="Calibri" pitchFamily="34" charset="-120"/>
              </a:rPr>
              <a:t>The ask for the CVM team</a:t>
            </a:r>
            <a:endParaRPr lang="en-US" sz="1300" dirty="0"/>
          </a:p>
        </p:txBody>
      </p:sp>
      <p:sp>
        <p:nvSpPr>
          <p:cNvPr id="10" name="Text 8"/>
          <p:cNvSpPr/>
          <p:nvPr/>
        </p:nvSpPr>
        <p:spPr>
          <a:xfrm>
            <a:off x="868680" y="5138928"/>
            <a:ext cx="10424160" cy="777240"/>
          </a:xfrm>
          <a:prstGeom prst="rect">
            <a:avLst/>
          </a:prstGeom>
          <a:noFill/>
          <a:ln/>
        </p:spPr>
        <p:txBody>
          <a:bodyPr wrap="square" lIns="0" tIns="0" rIns="0" bIns="0" rtlCol="0" anchor="ctr"/>
          <a:lstStyle/>
          <a:p>
            <a:pPr indent="0" marL="0">
              <a:lnSpc>
                <a:spcPct val="125000"/>
              </a:lnSpc>
              <a:buNone/>
            </a:pPr>
            <a:r>
              <a:rPr lang="en-US" sz="1300" dirty="0">
                <a:solidFill>
                  <a:srgbClr val="F5F7FA"/>
                </a:solidFill>
                <a:latin typeface="Calibri" pitchFamily="34" charset="0"/>
                <a:ea typeface="Calibri" pitchFamily="34" charset="-122"/>
                <a:cs typeface="Calibri" pitchFamily="34" charset="-120"/>
              </a:rPr>
              <a:t>Prioritise the Monday/Tuesday content fix and the youth-first bundle as the two highest-leverage, fastest-to-launch moves — both build directly on behaviour we already see in the data.</a:t>
            </a:r>
            <a:endParaRPr lang="en-US" sz="1300" dirty="0"/>
          </a:p>
        </p:txBody>
      </p:sp>
      <p:sp>
        <p:nvSpPr>
          <p:cNvPr id="11" name="Text 9"/>
          <p:cNvSpPr/>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9AAEC7"/>
                </a:solidFill>
                <a:latin typeface="Calibri" pitchFamily="34" charset="0"/>
                <a:ea typeface="Calibri" pitchFamily="34" charset="-122"/>
                <a:cs typeface="Calibri" pitchFamily="34" charset="-120"/>
              </a:rPr>
              <a:t>BrightTV  |  CVM Growth Insights</a:t>
            </a:r>
            <a:endParaRPr lang="en-US" sz="900" dirty="0"/>
          </a:p>
        </p:txBody>
      </p:sp>
      <p:sp>
        <p:nvSpPr>
          <p:cNvPr id="12" name="Text 1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9AAEC7"/>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8869680" y="-1645920"/>
            <a:ext cx="5486400" cy="5486400"/>
          </a:xfrm>
          <a:prstGeom prst="ellipse">
            <a:avLst/>
          </a:prstGeom>
          <a:solidFill>
            <a:srgbClr val="142238"/>
          </a:solidFill>
          <a:ln/>
        </p:spPr>
      </p:sp>
      <p:sp>
        <p:nvSpPr>
          <p:cNvPr id="3" name="Text 1"/>
          <p:cNvSpPr/>
          <p:nvPr/>
        </p:nvSpPr>
        <p:spPr>
          <a:xfrm>
            <a:off x="822960" y="2651760"/>
            <a:ext cx="9144000" cy="914400"/>
          </a:xfrm>
          <a:prstGeom prst="rect">
            <a:avLst/>
          </a:prstGeom>
          <a:noFill/>
          <a:ln/>
        </p:spPr>
        <p:txBody>
          <a:bodyPr wrap="square" lIns="0" tIns="0" rIns="0" bIns="0" rtlCol="0" anchor="ctr"/>
          <a:lstStyle/>
          <a:p>
            <a:pPr indent="0" marL="0">
              <a:buNone/>
            </a:pPr>
            <a:r>
              <a:rPr lang="en-US" sz="4400" b="1" dirty="0">
                <a:solidFill>
                  <a:srgbClr val="F5F7FA"/>
                </a:solidFill>
                <a:latin typeface="Cambria" pitchFamily="34" charset="0"/>
                <a:ea typeface="Cambria" pitchFamily="34" charset="-122"/>
                <a:cs typeface="Cambria" pitchFamily="34" charset="-120"/>
              </a:rPr>
              <a:t>THANK YOU</a:t>
            </a:r>
            <a:endParaRPr lang="en-US" sz="4400" dirty="0"/>
          </a:p>
        </p:txBody>
      </p:sp>
      <p:sp>
        <p:nvSpPr>
          <p:cNvPr id="4" name="Text 2"/>
          <p:cNvSpPr/>
          <p:nvPr/>
        </p:nvSpPr>
        <p:spPr>
          <a:xfrm>
            <a:off x="868680" y="3429000"/>
            <a:ext cx="7315200" cy="457200"/>
          </a:xfrm>
          <a:prstGeom prst="rect">
            <a:avLst/>
          </a:prstGeom>
          <a:noFill/>
          <a:ln/>
        </p:spPr>
        <p:txBody>
          <a:bodyPr wrap="square" lIns="0" tIns="0" rIns="0" bIns="0" rtlCol="0" anchor="ctr"/>
          <a:lstStyle/>
          <a:p>
            <a:pPr indent="0" marL="0">
              <a:buNone/>
            </a:pPr>
            <a:r>
              <a:rPr lang="en-US" sz="1600" i="1" dirty="0">
                <a:solidFill>
                  <a:srgbClr val="9AAEC7"/>
                </a:solidFill>
                <a:latin typeface="Calibri" pitchFamily="34" charset="0"/>
                <a:ea typeface="Calibri" pitchFamily="34" charset="-122"/>
                <a:cs typeface="Calibri" pitchFamily="34" charset="-120"/>
              </a:rPr>
              <a:t>Questions &amp; discussion</a:t>
            </a:r>
            <a:endParaRPr lang="en-US" sz="1600" dirty="0"/>
          </a:p>
        </p:txBody>
      </p:sp>
      <p:sp>
        <p:nvSpPr>
          <p:cNvPr id="5" name="Shape 3"/>
          <p:cNvSpPr/>
          <p:nvPr/>
        </p:nvSpPr>
        <p:spPr>
          <a:xfrm>
            <a:off x="822960" y="4023360"/>
            <a:ext cx="2011680" cy="0"/>
          </a:xfrm>
          <a:prstGeom prst="line">
            <a:avLst/>
          </a:prstGeom>
          <a:noFill/>
          <a:ln w="31750">
            <a:solidFill>
              <a:srgbClr val="F2C14E"/>
            </a:solidFill>
            <a:prstDash val="solid"/>
          </a:ln>
        </p:spPr>
      </p:sp>
      <p:sp>
        <p:nvSpPr>
          <p:cNvPr id="6" name="Text 4"/>
          <p:cNvSpPr/>
          <p:nvPr/>
        </p:nvSpPr>
        <p:spPr>
          <a:xfrm>
            <a:off x="822960" y="6035040"/>
            <a:ext cx="5486400" cy="365760"/>
          </a:xfrm>
          <a:prstGeom prst="rect">
            <a:avLst/>
          </a:prstGeom>
          <a:noFill/>
          <a:ln/>
        </p:spPr>
        <p:txBody>
          <a:bodyPr wrap="square" lIns="0" tIns="0" rIns="0" bIns="0" rtlCol="0" anchor="ctr"/>
          <a:lstStyle/>
          <a:p>
            <a:pPr indent="0" marL="0">
              <a:buNone/>
            </a:pPr>
            <a:r>
              <a:rPr lang="en-US" sz="1200" dirty="0">
                <a:solidFill>
                  <a:srgbClr val="9AAEC7"/>
                </a:solidFill>
                <a:latin typeface="Calibri" pitchFamily="34" charset="0"/>
                <a:ea typeface="Calibri" pitchFamily="34" charset="-122"/>
                <a:cs typeface="Calibri" pitchFamily="34" charset="-120"/>
              </a:rPr>
              <a:t>Ndadza A.  |  23 August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2026-08-24T00:46:25Z</dcterms:created>
  <dcterms:modified xsi:type="dcterms:W3CDTF">2026-08-24T00:46:25Z</dcterms:modified>
</cp:coreProperties>
</file>