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8590C"/>
          </a:solidFill>
          <a:ln/>
        </p:spPr>
      </p:sp>
      <p:sp>
        <p:nvSpPr>
          <p:cNvPr id="3" name="Text 1"/>
          <p:cNvSpPr txBox="1"/>
          <p:nvPr/>
        </p:nvSpPr>
        <p:spPr>
          <a:xfrm>
            <a:off x="731520" y="1005840"/>
            <a:ext cx="7772400" cy="274320"/>
          </a:xfrm>
          <a:prstGeom prst="rect">
            <a:avLst/>
          </a:prstGeom>
          <a:noFill/>
          <a:ln/>
        </p:spPr>
        <p:txBody>
          <a:bodyPr wrap="square" lIns="0" tIns="0" rIns="0" bIns="0" rtlCol="0" anchor="ctr"/>
          <a:lstStyle/>
          <a:p>
            <a:pPr indent="0" marL="0">
              <a:buNone/>
            </a:pPr>
            <a:r>
              <a:rPr lang="en-US" sz="1200" b="1" spc="300" kern="0" dirty="0">
                <a:solidFill>
                  <a:srgbClr val="FFA94D"/>
                </a:solidFill>
                <a:latin typeface="Calibri" pitchFamily="34" charset="0"/>
                <a:ea typeface="Calibri" pitchFamily="34" charset="-122"/>
                <a:cs typeface="Calibri" pitchFamily="34" charset="-120"/>
              </a:rPr>
              <a:t>CASE STUDY · ONLINE SHOP PERFORMANCE</a:t>
            </a:r>
            <a:endParaRPr lang="en-US" sz="1200" dirty="0"/>
          </a:p>
        </p:txBody>
      </p:sp>
      <p:sp>
        <p:nvSpPr>
          <p:cNvPr id="4" name="Text 2"/>
          <p:cNvSpPr txBox="1"/>
          <p:nvPr/>
        </p:nvSpPr>
        <p:spPr>
          <a:xfrm>
            <a:off x="731520" y="1371600"/>
            <a:ext cx="7772400" cy="91440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How Is the Shop Performing?</a:t>
            </a:r>
            <a:endParaRPr lang="en-US" sz="4200" dirty="0"/>
          </a:p>
        </p:txBody>
      </p:sp>
      <p:sp>
        <p:nvSpPr>
          <p:cNvPr id="5" name="Text 3"/>
          <p:cNvSpPr txBox="1"/>
          <p:nvPr/>
        </p:nvSpPr>
        <p:spPr>
          <a:xfrm>
            <a:off x="731520" y="2331720"/>
            <a:ext cx="7772400" cy="457200"/>
          </a:xfrm>
          <a:prstGeom prst="rect">
            <a:avLst/>
          </a:prstGeom>
          <a:noFill/>
          <a:ln/>
        </p:spPr>
        <p:txBody>
          <a:bodyPr wrap="square" lIns="0" tIns="0" rIns="0" bIns="0" rtlCol="0" anchor="ctr"/>
          <a:lstStyle/>
          <a:p>
            <a:pPr indent="0" marL="0">
              <a:buNone/>
            </a:pPr>
            <a:r>
              <a:rPr lang="en-US" sz="1800" dirty="0">
                <a:solidFill>
                  <a:srgbClr val="D0D6E4"/>
                </a:solidFill>
                <a:latin typeface="Calibri" pitchFamily="34" charset="0"/>
                <a:ea typeface="Calibri" pitchFamily="34" charset="-122"/>
                <a:cs typeface="Calibri" pitchFamily="34" charset="-120"/>
              </a:rPr>
              <a:t>Revenue, products, customers and payments, January 2024 – June 2026</a:t>
            </a:r>
            <a:endParaRPr lang="en-US" sz="1800" dirty="0"/>
          </a:p>
        </p:txBody>
      </p:sp>
      <p:sp>
        <p:nvSpPr>
          <p:cNvPr id="6" name="Text 4"/>
          <p:cNvSpPr txBox="1"/>
          <p:nvPr/>
        </p:nvSpPr>
        <p:spPr>
          <a:xfrm>
            <a:off x="731520" y="3566160"/>
            <a:ext cx="7772400" cy="640080"/>
          </a:xfrm>
          <a:prstGeom prst="rect">
            <a:avLst/>
          </a:prstGeom>
          <a:noFill/>
          <a:ln/>
        </p:spPr>
        <p:txBody>
          <a:bodyPr wrap="square" lIns="0" tIns="0" rIns="0" bIns="0" rtlCol="0" anchor="ctr"/>
          <a:lstStyle/>
          <a:p>
            <a:pPr indent="0" marL="0">
              <a:buNone/>
            </a:pPr>
            <a:r>
              <a:rPr lang="en-US" sz="1400" dirty="0">
                <a:solidFill>
                  <a:srgbClr val="FFA94D"/>
                </a:solidFill>
                <a:latin typeface="Calibri" pitchFamily="34" charset="0"/>
                <a:ea typeface="Calibri" pitchFamily="34" charset="-122"/>
                <a:cs typeface="Calibri" pitchFamily="34" charset="-120"/>
              </a:rPr>
              <a:t>Prepared for Mr R. Nemukula, Head of Operations</a:t>
            </a:r>
            <a:endParaRPr lang="en-US" sz="1400" dirty="0"/>
          </a:p>
          <a:p>
            <a:pPr indent="0" marL="0">
              <a:buNone/>
            </a:pPr>
            <a:r>
              <a:rPr lang="en-US" sz="1400" dirty="0">
                <a:solidFill>
                  <a:srgbClr val="FFA94D"/>
                </a:solidFill>
                <a:latin typeface="Calibri" pitchFamily="34" charset="0"/>
                <a:ea typeface="Calibri" pitchFamily="34" charset="-122"/>
                <a:cs typeface="Calibri" pitchFamily="34" charset="-120"/>
              </a:rPr>
              <a:t>Compiled by Ndadza 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590C"/>
          </a:solidFill>
          <a:ln/>
        </p:spPr>
      </p:sp>
      <p:sp>
        <p:nvSpPr>
          <p:cNvPr id="3" name="Text 1"/>
          <p:cNvSpPr txBox="1"/>
          <p:nvPr/>
        </p:nvSpPr>
        <p:spPr>
          <a:xfrm>
            <a:off x="457200" y="228600"/>
            <a:ext cx="8229600" cy="640080"/>
          </a:xfrm>
          <a:prstGeom prst="rect">
            <a:avLst/>
          </a:prstGeom>
          <a:noFill/>
          <a:ln/>
        </p:spPr>
        <p:txBody>
          <a:bodyPr wrap="square" lIns="0" tIns="0" rIns="0" bIns="0"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The business question</a:t>
            </a:r>
            <a:endParaRPr lang="en-US" sz="2400" dirty="0"/>
          </a:p>
        </p:txBody>
      </p:sp>
      <p:sp>
        <p:nvSpPr>
          <p:cNvPr id="4" name="Text 2"/>
          <p:cNvSpPr txBox="1"/>
          <p:nvPr/>
        </p:nvSpPr>
        <p:spPr>
          <a:xfrm>
            <a:off x="8046720" y="4800600"/>
            <a:ext cx="731520" cy="22860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 / 8</a:t>
            </a:r>
            <a:endParaRPr lang="en-US" sz="1000" dirty="0"/>
          </a:p>
        </p:txBody>
      </p:sp>
      <p:sp>
        <p:nvSpPr>
          <p:cNvPr id="5" name="Shape 3"/>
          <p:cNvSpPr/>
          <p:nvPr/>
        </p:nvSpPr>
        <p:spPr>
          <a:xfrm>
            <a:off x="457200" y="1097280"/>
            <a:ext cx="2651760" cy="1554480"/>
          </a:xfrm>
          <a:prstGeom prst="roundRect">
            <a:avLst>
              <a:gd name="adj" fmla="val 4706"/>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6" name="Text 4"/>
          <p:cNvSpPr txBox="1"/>
          <p:nvPr/>
        </p:nvSpPr>
        <p:spPr>
          <a:xfrm>
            <a:off x="594360" y="1234440"/>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594360" y="1691640"/>
            <a:ext cx="2377440" cy="86868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Is revenue growing, shrinking or flat? Any seasonal peaks?</a:t>
            </a:r>
            <a:endParaRPr lang="en-US" sz="1300" dirty="0"/>
          </a:p>
        </p:txBody>
      </p:sp>
      <p:sp>
        <p:nvSpPr>
          <p:cNvPr id="8" name="Shape 6"/>
          <p:cNvSpPr/>
          <p:nvPr/>
        </p:nvSpPr>
        <p:spPr>
          <a:xfrm>
            <a:off x="3246120" y="1097280"/>
            <a:ext cx="2651760" cy="1554480"/>
          </a:xfrm>
          <a:prstGeom prst="roundRect">
            <a:avLst>
              <a:gd name="adj" fmla="val 4706"/>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9" name="Text 7"/>
          <p:cNvSpPr txBox="1"/>
          <p:nvPr/>
        </p:nvSpPr>
        <p:spPr>
          <a:xfrm>
            <a:off x="3383280" y="1234440"/>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3383280" y="1691640"/>
            <a:ext cx="2377440" cy="86868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Which products and categories earn the most, and sell the most units?</a:t>
            </a:r>
            <a:endParaRPr lang="en-US" sz="1300" dirty="0"/>
          </a:p>
        </p:txBody>
      </p:sp>
      <p:sp>
        <p:nvSpPr>
          <p:cNvPr id="11" name="Shape 9"/>
          <p:cNvSpPr/>
          <p:nvPr/>
        </p:nvSpPr>
        <p:spPr>
          <a:xfrm>
            <a:off x="6035040" y="1097280"/>
            <a:ext cx="2651760" cy="1554480"/>
          </a:xfrm>
          <a:prstGeom prst="roundRect">
            <a:avLst>
              <a:gd name="adj" fmla="val 4706"/>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12" name="Text 10"/>
          <p:cNvSpPr txBox="1"/>
          <p:nvPr/>
        </p:nvSpPr>
        <p:spPr>
          <a:xfrm>
            <a:off x="6172200" y="1234440"/>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6172200" y="1691640"/>
            <a:ext cx="2377440" cy="86868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Which customer segments are most valuable?</a:t>
            </a:r>
            <a:endParaRPr lang="en-US" sz="1300" dirty="0"/>
          </a:p>
        </p:txBody>
      </p:sp>
      <p:sp>
        <p:nvSpPr>
          <p:cNvPr id="14" name="Shape 12"/>
          <p:cNvSpPr/>
          <p:nvPr/>
        </p:nvSpPr>
        <p:spPr>
          <a:xfrm>
            <a:off x="457200" y="2834640"/>
            <a:ext cx="2651760" cy="1554480"/>
          </a:xfrm>
          <a:prstGeom prst="roundRect">
            <a:avLst>
              <a:gd name="adj" fmla="val 4706"/>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15" name="Text 13"/>
          <p:cNvSpPr txBox="1"/>
          <p:nvPr/>
        </p:nvSpPr>
        <p:spPr>
          <a:xfrm>
            <a:off x="594360" y="2971800"/>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594360" y="3429000"/>
            <a:ext cx="2377440" cy="86868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What share of payments fail or get refunded? Do some methods fail more?</a:t>
            </a:r>
            <a:endParaRPr lang="en-US" sz="1300" dirty="0"/>
          </a:p>
        </p:txBody>
      </p:sp>
      <p:sp>
        <p:nvSpPr>
          <p:cNvPr id="17" name="Shape 15"/>
          <p:cNvSpPr/>
          <p:nvPr/>
        </p:nvSpPr>
        <p:spPr>
          <a:xfrm>
            <a:off x="3246120" y="2834640"/>
            <a:ext cx="2651760" cy="1554480"/>
          </a:xfrm>
          <a:prstGeom prst="roundRect">
            <a:avLst>
              <a:gd name="adj" fmla="val 4706"/>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18" name="Text 16"/>
          <p:cNvSpPr txBox="1"/>
          <p:nvPr/>
        </p:nvSpPr>
        <p:spPr>
          <a:xfrm>
            <a:off x="3383280" y="2971800"/>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3383280" y="3429000"/>
            <a:ext cx="2377440" cy="86868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Do bigger discounts lead to bigger orders, or just lower revenue?</a:t>
            </a:r>
            <a:endParaRPr lang="en-US" sz="1300" dirty="0"/>
          </a:p>
        </p:txBody>
      </p:sp>
      <p:sp>
        <p:nvSpPr>
          <p:cNvPr id="20" name="Shape 18"/>
          <p:cNvSpPr/>
          <p:nvPr/>
        </p:nvSpPr>
        <p:spPr>
          <a:xfrm>
            <a:off x="6035040" y="2834640"/>
            <a:ext cx="2651760" cy="1554480"/>
          </a:xfrm>
          <a:prstGeom prst="roundRect">
            <a:avLst>
              <a:gd name="adj" fmla="val 4706"/>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21" name="Text 19"/>
          <p:cNvSpPr txBox="1"/>
          <p:nvPr/>
        </p:nvSpPr>
        <p:spPr>
          <a:xfrm>
            <a:off x="6172200" y="2971800"/>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2" name="Text 20"/>
          <p:cNvSpPr txBox="1"/>
          <p:nvPr/>
        </p:nvSpPr>
        <p:spPr>
          <a:xfrm>
            <a:off x="6172200" y="3429000"/>
            <a:ext cx="2377440" cy="86868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What should we do next? Three recommendations follow.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590C"/>
          </a:solidFill>
          <a:ln/>
        </p:spPr>
      </p:sp>
      <p:sp>
        <p:nvSpPr>
          <p:cNvPr id="3" name="Text 1"/>
          <p:cNvSpPr txBox="1"/>
          <p:nvPr/>
        </p:nvSpPr>
        <p:spPr>
          <a:xfrm>
            <a:off x="457200" y="228600"/>
            <a:ext cx="8229600" cy="640080"/>
          </a:xfrm>
          <a:prstGeom prst="rect">
            <a:avLst/>
          </a:prstGeom>
          <a:noFill/>
          <a:ln/>
        </p:spPr>
        <p:txBody>
          <a:bodyPr wrap="square" lIns="0" tIns="0" rIns="0" bIns="0"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Overall performance at a glance</a:t>
            </a:r>
            <a:endParaRPr lang="en-US" sz="2400" dirty="0"/>
          </a:p>
        </p:txBody>
      </p:sp>
      <p:sp>
        <p:nvSpPr>
          <p:cNvPr id="4" name="Text 2"/>
          <p:cNvSpPr txBox="1"/>
          <p:nvPr/>
        </p:nvSpPr>
        <p:spPr>
          <a:xfrm>
            <a:off x="8046720" y="4800600"/>
            <a:ext cx="731520" cy="22860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3 / 8</a:t>
            </a:r>
            <a:endParaRPr lang="en-US" sz="1000" dirty="0"/>
          </a:p>
        </p:txBody>
      </p:sp>
      <p:sp>
        <p:nvSpPr>
          <p:cNvPr id="5" name="Shape 3"/>
          <p:cNvSpPr/>
          <p:nvPr/>
        </p:nvSpPr>
        <p:spPr>
          <a:xfrm>
            <a:off x="457200" y="960120"/>
            <a:ext cx="1965960" cy="1051560"/>
          </a:xfrm>
          <a:prstGeom prst="roundRect">
            <a:avLst>
              <a:gd name="adj" fmla="val 6957"/>
            </a:avLst>
          </a:prstGeom>
          <a:solidFill>
            <a:srgbClr val="14213D"/>
          </a:solidFill>
          <a:ln/>
        </p:spPr>
      </p:sp>
      <p:sp>
        <p:nvSpPr>
          <p:cNvPr id="6" name="Text 4"/>
          <p:cNvSpPr txBox="1"/>
          <p:nvPr/>
        </p:nvSpPr>
        <p:spPr>
          <a:xfrm>
            <a:off x="457200" y="1024128"/>
            <a:ext cx="1965960" cy="594360"/>
          </a:xfrm>
          <a:prstGeom prst="rect">
            <a:avLst/>
          </a:prstGeom>
          <a:noFill/>
          <a:ln/>
        </p:spPr>
        <p:txBody>
          <a:bodyPr wrap="square" lIns="0" tIns="0" rIns="0" bIns="0" rtlCol="0" anchor="ctr"/>
          <a:lstStyle/>
          <a:p>
            <a:pPr algn="ctr" indent="0" marL="0">
              <a:buNone/>
            </a:pPr>
            <a:r>
              <a:rPr lang="en-US" sz="3000" b="1" dirty="0">
                <a:solidFill>
                  <a:srgbClr val="FFA94D"/>
                </a:solidFill>
                <a:latin typeface="Calibri" pitchFamily="34" charset="0"/>
                <a:ea typeface="Calibri" pitchFamily="34" charset="-122"/>
                <a:cs typeface="Calibri" pitchFamily="34" charset="-120"/>
              </a:rPr>
              <a:t>50,000</a:t>
            </a:r>
            <a:endParaRPr lang="en-US" sz="3000" dirty="0"/>
          </a:p>
        </p:txBody>
      </p:sp>
      <p:sp>
        <p:nvSpPr>
          <p:cNvPr id="7" name="Text 5"/>
          <p:cNvSpPr txBox="1"/>
          <p:nvPr/>
        </p:nvSpPr>
        <p:spPr>
          <a:xfrm>
            <a:off x="457200" y="1600200"/>
            <a:ext cx="1965960" cy="320040"/>
          </a:xfrm>
          <a:prstGeom prst="rect">
            <a:avLst/>
          </a:prstGeom>
          <a:noFill/>
          <a:ln/>
        </p:spPr>
        <p:txBody>
          <a:bodyPr wrap="square" lIns="0" tIns="0" rIns="0" bIns="0" rtlCol="0" anchor="ctr"/>
          <a:lstStyle/>
          <a:p>
            <a:pPr algn="ctr" indent="0" marL="0">
              <a:buNone/>
            </a:pPr>
            <a:r>
              <a:rPr lang="en-US" sz="1200" dirty="0">
                <a:solidFill>
                  <a:srgbClr val="D0D6E4"/>
                </a:solidFill>
                <a:latin typeface="Calibri" pitchFamily="34" charset="0"/>
                <a:ea typeface="Calibri" pitchFamily="34" charset="-122"/>
                <a:cs typeface="Calibri" pitchFamily="34" charset="-120"/>
              </a:rPr>
              <a:t>payment attempts</a:t>
            </a:r>
            <a:endParaRPr lang="en-US" sz="1200" dirty="0"/>
          </a:p>
        </p:txBody>
      </p:sp>
      <p:sp>
        <p:nvSpPr>
          <p:cNvPr id="8" name="Shape 6"/>
          <p:cNvSpPr/>
          <p:nvPr/>
        </p:nvSpPr>
        <p:spPr>
          <a:xfrm>
            <a:off x="2542032" y="960120"/>
            <a:ext cx="1965960" cy="1051560"/>
          </a:xfrm>
          <a:prstGeom prst="roundRect">
            <a:avLst>
              <a:gd name="adj" fmla="val 6957"/>
            </a:avLst>
          </a:prstGeom>
          <a:solidFill>
            <a:srgbClr val="14213D"/>
          </a:solidFill>
          <a:ln/>
        </p:spPr>
      </p:sp>
      <p:sp>
        <p:nvSpPr>
          <p:cNvPr id="9" name="Text 7"/>
          <p:cNvSpPr txBox="1"/>
          <p:nvPr/>
        </p:nvSpPr>
        <p:spPr>
          <a:xfrm>
            <a:off x="2542032" y="1024128"/>
            <a:ext cx="1965960" cy="594360"/>
          </a:xfrm>
          <a:prstGeom prst="rect">
            <a:avLst/>
          </a:prstGeom>
          <a:noFill/>
          <a:ln/>
        </p:spPr>
        <p:txBody>
          <a:bodyPr wrap="square" lIns="0" tIns="0" rIns="0" bIns="0" rtlCol="0" anchor="ctr"/>
          <a:lstStyle/>
          <a:p>
            <a:pPr algn="ctr" indent="0" marL="0">
              <a:buNone/>
            </a:pPr>
            <a:r>
              <a:rPr lang="en-US" sz="3000" b="1" dirty="0">
                <a:solidFill>
                  <a:srgbClr val="FFA94D"/>
                </a:solidFill>
                <a:latin typeface="Calibri" pitchFamily="34" charset="0"/>
                <a:ea typeface="Calibri" pitchFamily="34" charset="-122"/>
                <a:cs typeface="Calibri" pitchFamily="34" charset="-120"/>
              </a:rPr>
              <a:t>93.1%</a:t>
            </a:r>
            <a:endParaRPr lang="en-US" sz="3000" dirty="0"/>
          </a:p>
        </p:txBody>
      </p:sp>
      <p:sp>
        <p:nvSpPr>
          <p:cNvPr id="10" name="Text 8"/>
          <p:cNvSpPr txBox="1"/>
          <p:nvPr/>
        </p:nvSpPr>
        <p:spPr>
          <a:xfrm>
            <a:off x="2542032" y="1600200"/>
            <a:ext cx="1965960" cy="320040"/>
          </a:xfrm>
          <a:prstGeom prst="rect">
            <a:avLst/>
          </a:prstGeom>
          <a:noFill/>
          <a:ln/>
        </p:spPr>
        <p:txBody>
          <a:bodyPr wrap="square" lIns="0" tIns="0" rIns="0" bIns="0" rtlCol="0" anchor="ctr"/>
          <a:lstStyle/>
          <a:p>
            <a:pPr algn="ctr" indent="0" marL="0">
              <a:buNone/>
            </a:pPr>
            <a:r>
              <a:rPr lang="en-US" sz="1200" dirty="0">
                <a:solidFill>
                  <a:srgbClr val="D0D6E4"/>
                </a:solidFill>
                <a:latin typeface="Calibri" pitchFamily="34" charset="0"/>
                <a:ea typeface="Calibri" pitchFamily="34" charset="-122"/>
                <a:cs typeface="Calibri" pitchFamily="34" charset="-120"/>
              </a:rPr>
              <a:t>paid</a:t>
            </a:r>
            <a:endParaRPr lang="en-US" sz="1200" dirty="0"/>
          </a:p>
        </p:txBody>
      </p:sp>
      <p:sp>
        <p:nvSpPr>
          <p:cNvPr id="11" name="Shape 9"/>
          <p:cNvSpPr/>
          <p:nvPr/>
        </p:nvSpPr>
        <p:spPr>
          <a:xfrm>
            <a:off x="4626864" y="960120"/>
            <a:ext cx="1965960" cy="1051560"/>
          </a:xfrm>
          <a:prstGeom prst="roundRect">
            <a:avLst>
              <a:gd name="adj" fmla="val 6957"/>
            </a:avLst>
          </a:prstGeom>
          <a:solidFill>
            <a:srgbClr val="14213D"/>
          </a:solidFill>
          <a:ln/>
        </p:spPr>
      </p:sp>
      <p:sp>
        <p:nvSpPr>
          <p:cNvPr id="12" name="Text 10"/>
          <p:cNvSpPr txBox="1"/>
          <p:nvPr/>
        </p:nvSpPr>
        <p:spPr>
          <a:xfrm>
            <a:off x="4626864" y="1024128"/>
            <a:ext cx="1965960" cy="594360"/>
          </a:xfrm>
          <a:prstGeom prst="rect">
            <a:avLst/>
          </a:prstGeom>
          <a:noFill/>
          <a:ln/>
        </p:spPr>
        <p:txBody>
          <a:bodyPr wrap="square" lIns="0" tIns="0" rIns="0" bIns="0" rtlCol="0" anchor="ctr"/>
          <a:lstStyle/>
          <a:p>
            <a:pPr algn="ctr" indent="0" marL="0">
              <a:buNone/>
            </a:pPr>
            <a:r>
              <a:rPr lang="en-US" sz="3000" b="1" dirty="0">
                <a:solidFill>
                  <a:srgbClr val="FFA94D"/>
                </a:solidFill>
                <a:latin typeface="Calibri" pitchFamily="34" charset="0"/>
                <a:ea typeface="Calibri" pitchFamily="34" charset="-122"/>
                <a:cs typeface="Calibri" pitchFamily="34" charset="-120"/>
              </a:rPr>
              <a:t>3.85%</a:t>
            </a:r>
            <a:endParaRPr lang="en-US" sz="3000" dirty="0"/>
          </a:p>
        </p:txBody>
      </p:sp>
      <p:sp>
        <p:nvSpPr>
          <p:cNvPr id="13" name="Text 11"/>
          <p:cNvSpPr txBox="1"/>
          <p:nvPr/>
        </p:nvSpPr>
        <p:spPr>
          <a:xfrm>
            <a:off x="4626864" y="1600200"/>
            <a:ext cx="1965960" cy="320040"/>
          </a:xfrm>
          <a:prstGeom prst="rect">
            <a:avLst/>
          </a:prstGeom>
          <a:noFill/>
          <a:ln/>
        </p:spPr>
        <p:txBody>
          <a:bodyPr wrap="square" lIns="0" tIns="0" rIns="0" bIns="0" rtlCol="0" anchor="ctr"/>
          <a:lstStyle/>
          <a:p>
            <a:pPr algn="ctr" indent="0" marL="0">
              <a:buNone/>
            </a:pPr>
            <a:r>
              <a:rPr lang="en-US" sz="1200" dirty="0">
                <a:solidFill>
                  <a:srgbClr val="D0D6E4"/>
                </a:solidFill>
                <a:latin typeface="Calibri" pitchFamily="34" charset="0"/>
                <a:ea typeface="Calibri" pitchFamily="34" charset="-122"/>
                <a:cs typeface="Calibri" pitchFamily="34" charset="-120"/>
              </a:rPr>
              <a:t>failed (1,924)</a:t>
            </a:r>
            <a:endParaRPr lang="en-US" sz="1200" dirty="0"/>
          </a:p>
        </p:txBody>
      </p:sp>
      <p:sp>
        <p:nvSpPr>
          <p:cNvPr id="14" name="Shape 12"/>
          <p:cNvSpPr/>
          <p:nvPr/>
        </p:nvSpPr>
        <p:spPr>
          <a:xfrm>
            <a:off x="6711696" y="960120"/>
            <a:ext cx="1965960" cy="1051560"/>
          </a:xfrm>
          <a:prstGeom prst="roundRect">
            <a:avLst>
              <a:gd name="adj" fmla="val 6957"/>
            </a:avLst>
          </a:prstGeom>
          <a:solidFill>
            <a:srgbClr val="14213D"/>
          </a:solidFill>
          <a:ln/>
        </p:spPr>
      </p:sp>
      <p:sp>
        <p:nvSpPr>
          <p:cNvPr id="15" name="Text 13"/>
          <p:cNvSpPr txBox="1"/>
          <p:nvPr/>
        </p:nvSpPr>
        <p:spPr>
          <a:xfrm>
            <a:off x="6711696" y="1024128"/>
            <a:ext cx="1965960" cy="594360"/>
          </a:xfrm>
          <a:prstGeom prst="rect">
            <a:avLst/>
          </a:prstGeom>
          <a:noFill/>
          <a:ln/>
        </p:spPr>
        <p:txBody>
          <a:bodyPr wrap="square" lIns="0" tIns="0" rIns="0" bIns="0" rtlCol="0" anchor="ctr"/>
          <a:lstStyle/>
          <a:p>
            <a:pPr algn="ctr" indent="0" marL="0">
              <a:buNone/>
            </a:pPr>
            <a:r>
              <a:rPr lang="en-US" sz="3000" b="1" dirty="0">
                <a:solidFill>
                  <a:srgbClr val="FFA94D"/>
                </a:solidFill>
                <a:latin typeface="Calibri" pitchFamily="34" charset="0"/>
                <a:ea typeface="Calibri" pitchFamily="34" charset="-122"/>
                <a:cs typeface="Calibri" pitchFamily="34" charset="-120"/>
              </a:rPr>
              <a:t>3.01%</a:t>
            </a:r>
            <a:endParaRPr lang="en-US" sz="3000" dirty="0"/>
          </a:p>
        </p:txBody>
      </p:sp>
      <p:sp>
        <p:nvSpPr>
          <p:cNvPr id="16" name="Text 14"/>
          <p:cNvSpPr txBox="1"/>
          <p:nvPr/>
        </p:nvSpPr>
        <p:spPr>
          <a:xfrm>
            <a:off x="6711696" y="1600200"/>
            <a:ext cx="1965960" cy="320040"/>
          </a:xfrm>
          <a:prstGeom prst="rect">
            <a:avLst/>
          </a:prstGeom>
          <a:noFill/>
          <a:ln/>
        </p:spPr>
        <p:txBody>
          <a:bodyPr wrap="square" lIns="0" tIns="0" rIns="0" bIns="0" rtlCol="0" anchor="ctr"/>
          <a:lstStyle/>
          <a:p>
            <a:pPr algn="ctr" indent="0" marL="0">
              <a:buNone/>
            </a:pPr>
            <a:r>
              <a:rPr lang="en-US" sz="1200" dirty="0">
                <a:solidFill>
                  <a:srgbClr val="D0D6E4"/>
                </a:solidFill>
                <a:latin typeface="Calibri" pitchFamily="34" charset="0"/>
                <a:ea typeface="Calibri" pitchFamily="34" charset="-122"/>
                <a:cs typeface="Calibri" pitchFamily="34" charset="-120"/>
              </a:rPr>
              <a:t>refunded (1,507)</a:t>
            </a:r>
            <a:endParaRPr lang="en-US" sz="1200" dirty="0"/>
          </a:p>
        </p:txBody>
      </p:sp>
      <p:sp>
        <p:nvSpPr>
          <p:cNvPr id="17" name="Shape 15"/>
          <p:cNvSpPr/>
          <p:nvPr/>
        </p:nvSpPr>
        <p:spPr>
          <a:xfrm>
            <a:off x="457200" y="2240280"/>
            <a:ext cx="2651760" cy="1874520"/>
          </a:xfrm>
          <a:prstGeom prst="roundRect">
            <a:avLst>
              <a:gd name="adj" fmla="val 3902"/>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18" name="Text 16"/>
          <p:cNvSpPr txBox="1"/>
          <p:nvPr/>
        </p:nvSpPr>
        <p:spPr>
          <a:xfrm>
            <a:off x="594360" y="2331720"/>
            <a:ext cx="2377440" cy="502920"/>
          </a:xfrm>
          <a:prstGeom prst="rect">
            <a:avLst/>
          </a:prstGeom>
          <a:noFill/>
          <a:ln/>
        </p:spPr>
        <p:txBody>
          <a:bodyPr wrap="square" lIns="0" tIns="0" rIns="0" bIns="0" rtlCol="0" anchor="t"/>
          <a:lstStyle/>
          <a:p>
            <a:pPr indent="0" marL="0">
              <a:buNone/>
            </a:pPr>
            <a:r>
              <a:rPr lang="en-US" sz="1300" b="1" dirty="0">
                <a:solidFill>
                  <a:srgbClr val="E8590C"/>
                </a:solidFill>
                <a:latin typeface="Calibri" pitchFamily="34" charset="0"/>
                <a:ea typeface="Calibri" pitchFamily="34" charset="-122"/>
                <a:cs typeface="Calibri" pitchFamily="34" charset="-120"/>
              </a:rPr>
              <a:t>1 · Revenue has dropped</a:t>
            </a:r>
            <a:endParaRPr lang="en-US" sz="1300" dirty="0"/>
          </a:p>
        </p:txBody>
      </p:sp>
      <p:sp>
        <p:nvSpPr>
          <p:cNvPr id="19" name="Text 17"/>
          <p:cNvSpPr txBox="1"/>
          <p:nvPr/>
        </p:nvSpPr>
        <p:spPr>
          <a:xfrm>
            <a:off x="594360" y="2880360"/>
            <a:ext cx="2377440" cy="114300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Monthly revenue held near 110–132k until Jan 2026, then fell to roughly 75–87k.</a:t>
            </a:r>
            <a:endParaRPr lang="en-US" sz="1200" dirty="0"/>
          </a:p>
        </p:txBody>
      </p:sp>
      <p:sp>
        <p:nvSpPr>
          <p:cNvPr id="20" name="Shape 18"/>
          <p:cNvSpPr/>
          <p:nvPr/>
        </p:nvSpPr>
        <p:spPr>
          <a:xfrm>
            <a:off x="3246120" y="2240280"/>
            <a:ext cx="2651760" cy="1874520"/>
          </a:xfrm>
          <a:prstGeom prst="roundRect">
            <a:avLst>
              <a:gd name="adj" fmla="val 3902"/>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21" name="Text 19"/>
          <p:cNvSpPr txBox="1"/>
          <p:nvPr/>
        </p:nvSpPr>
        <p:spPr>
          <a:xfrm>
            <a:off x="3383280" y="2331720"/>
            <a:ext cx="2377440" cy="502920"/>
          </a:xfrm>
          <a:prstGeom prst="rect">
            <a:avLst/>
          </a:prstGeom>
          <a:noFill/>
          <a:ln/>
        </p:spPr>
        <p:txBody>
          <a:bodyPr wrap="square" lIns="0" tIns="0" rIns="0" bIns="0" rtlCol="0" anchor="t"/>
          <a:lstStyle/>
          <a:p>
            <a:pPr indent="0" marL="0">
              <a:buNone/>
            </a:pPr>
            <a:r>
              <a:rPr lang="en-US" sz="1300" b="1" dirty="0">
                <a:solidFill>
                  <a:srgbClr val="E8590C"/>
                </a:solidFill>
                <a:latin typeface="Calibri" pitchFamily="34" charset="0"/>
                <a:ea typeface="Calibri" pitchFamily="34" charset="-122"/>
                <a:cs typeface="Calibri" pitchFamily="34" charset="-120"/>
              </a:rPr>
              <a:t>2 · Electronics drives revenue</a:t>
            </a:r>
            <a:endParaRPr lang="en-US" sz="1300" dirty="0"/>
          </a:p>
        </p:txBody>
      </p:sp>
      <p:sp>
        <p:nvSpPr>
          <p:cNvPr id="22" name="Text 20"/>
          <p:cNvSpPr txBox="1"/>
          <p:nvPr/>
        </p:nvSpPr>
        <p:spPr>
          <a:xfrm>
            <a:off x="3383280" y="2880360"/>
            <a:ext cx="2377440" cy="114300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Roughly half of all revenue, though Accessories sell slightly more units.</a:t>
            </a:r>
            <a:endParaRPr lang="en-US" sz="1200" dirty="0"/>
          </a:p>
        </p:txBody>
      </p:sp>
      <p:sp>
        <p:nvSpPr>
          <p:cNvPr id="23" name="Shape 21"/>
          <p:cNvSpPr/>
          <p:nvPr/>
        </p:nvSpPr>
        <p:spPr>
          <a:xfrm>
            <a:off x="6035040" y="2240280"/>
            <a:ext cx="2651760" cy="1874520"/>
          </a:xfrm>
          <a:prstGeom prst="roundRect">
            <a:avLst>
              <a:gd name="adj" fmla="val 3902"/>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24" name="Text 22"/>
          <p:cNvSpPr txBox="1"/>
          <p:nvPr/>
        </p:nvSpPr>
        <p:spPr>
          <a:xfrm>
            <a:off x="6172200" y="2331720"/>
            <a:ext cx="2377440" cy="502920"/>
          </a:xfrm>
          <a:prstGeom prst="rect">
            <a:avLst/>
          </a:prstGeom>
          <a:noFill/>
          <a:ln/>
        </p:spPr>
        <p:txBody>
          <a:bodyPr wrap="square" lIns="0" tIns="0" rIns="0" bIns="0" rtlCol="0" anchor="t"/>
          <a:lstStyle/>
          <a:p>
            <a:pPr indent="0" marL="0">
              <a:buNone/>
            </a:pPr>
            <a:r>
              <a:rPr lang="en-US" sz="1300" b="1" dirty="0">
                <a:solidFill>
                  <a:srgbClr val="E8590C"/>
                </a:solidFill>
                <a:latin typeface="Calibri" pitchFamily="34" charset="0"/>
                <a:ea typeface="Calibri" pitchFamily="34" charset="-122"/>
                <a:cs typeface="Calibri" pitchFamily="34" charset="-120"/>
              </a:rPr>
              <a:t>3 · About 7% of payments are lost</a:t>
            </a:r>
            <a:endParaRPr lang="en-US" sz="1300" dirty="0"/>
          </a:p>
        </p:txBody>
      </p:sp>
      <p:sp>
        <p:nvSpPr>
          <p:cNvPr id="25" name="Text 23"/>
          <p:cNvSpPr txBox="1"/>
          <p:nvPr/>
        </p:nvSpPr>
        <p:spPr>
          <a:xfrm>
            <a:off x="6172200" y="2880360"/>
            <a:ext cx="2377440" cy="1143000"/>
          </a:xfrm>
          <a:prstGeom prst="rect">
            <a:avLst/>
          </a:prstGeom>
          <a:noFill/>
          <a:ln/>
        </p:spPr>
        <p:txBody>
          <a:bodyPr wrap="square" lIns="0" tIns="0" rIns="0" bIns="0" rtlCol="0" anchor="t"/>
          <a:lstStyle/>
          <a:p>
            <a:pPr indent="0" marL="0">
              <a:buNone/>
            </a:pPr>
            <a:r>
              <a:rPr lang="en-US" sz="1200" dirty="0">
                <a:solidFill>
                  <a:srgbClr val="14213D"/>
                </a:solidFill>
                <a:latin typeface="Calibri" pitchFamily="34" charset="0"/>
                <a:ea typeface="Calibri" pitchFamily="34" charset="-122"/>
                <a:cs typeface="Calibri" pitchFamily="34" charset="-120"/>
              </a:rPr>
              <a:t>Failures and refunds add up to about 7%. Failure rates are similar across every payment method.</a:t>
            </a:r>
            <a:endParaRPr lang="en-US" sz="1200" dirty="0"/>
          </a:p>
        </p:txBody>
      </p:sp>
      <p:sp>
        <p:nvSpPr>
          <p:cNvPr id="26" name="Text 24"/>
          <p:cNvSpPr txBox="1"/>
          <p:nvPr/>
        </p:nvSpPr>
        <p:spPr>
          <a:xfrm>
            <a:off x="457200" y="4754880"/>
            <a:ext cx="7498080" cy="274320"/>
          </a:xfrm>
          <a:prstGeom prst="rect">
            <a:avLst/>
          </a:prstGeom>
          <a:noFill/>
          <a:ln/>
        </p:spPr>
        <p:txBody>
          <a:bodyPr wrap="square" lIns="0" tIns="0" rIns="0" bIns="0" rtlCol="0" anchor="ctr"/>
          <a:lstStyle/>
          <a:p>
            <a:pPr indent="0" marL="0">
              <a:buNone/>
            </a:pPr>
            <a:r>
              <a:rPr lang="en-US" sz="900" i="1" dirty="0">
                <a:solidFill>
                  <a:srgbClr val="5A6478"/>
                </a:solidFill>
                <a:latin typeface="Calibri" pitchFamily="34" charset="0"/>
                <a:ea typeface="Calibri" pitchFamily="34" charset="-122"/>
                <a:cs typeface="Calibri" pitchFamily="34" charset="-120"/>
              </a:rPr>
              <a:t>Gap: total revenue, order count and average order value are not shown in the screenshots. Add them from the working file.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590C"/>
          </a:solidFill>
          <a:ln/>
        </p:spPr>
      </p:sp>
      <p:sp>
        <p:nvSpPr>
          <p:cNvPr id="3" name="Text 1"/>
          <p:cNvSpPr txBox="1"/>
          <p:nvPr/>
        </p:nvSpPr>
        <p:spPr>
          <a:xfrm>
            <a:off x="457200" y="228600"/>
            <a:ext cx="8229600" cy="640080"/>
          </a:xfrm>
          <a:prstGeom prst="rect">
            <a:avLst/>
          </a:prstGeom>
          <a:noFill/>
          <a:ln/>
        </p:spPr>
        <p:txBody>
          <a:bodyPr wrap="square" lIns="0" tIns="0" rIns="0" bIns="0"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Revenue fell sharply in 2026</a:t>
            </a:r>
            <a:endParaRPr lang="en-US" sz="2400" dirty="0"/>
          </a:p>
        </p:txBody>
      </p:sp>
      <p:sp>
        <p:nvSpPr>
          <p:cNvPr id="4" name="Text 2"/>
          <p:cNvSpPr txBox="1"/>
          <p:nvPr/>
        </p:nvSpPr>
        <p:spPr>
          <a:xfrm>
            <a:off x="8046720" y="4800600"/>
            <a:ext cx="731520" cy="22860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4 / 8</a:t>
            </a:r>
            <a:endParaRPr lang="en-US" sz="1000" dirty="0"/>
          </a:p>
        </p:txBody>
      </p:sp>
      <p:sp>
        <p:nvSpPr>
          <p:cNvPr id="5" name="Shape 3"/>
          <p:cNvSpPr/>
          <p:nvPr/>
        </p:nvSpPr>
        <p:spPr>
          <a:xfrm>
            <a:off x="457200" y="1005840"/>
            <a:ext cx="5120640" cy="3291840"/>
          </a:xfrm>
          <a:prstGeom prst="roundRect">
            <a:avLst>
              <a:gd name="adj" fmla="val 1667"/>
            </a:avLst>
          </a:prstGeom>
          <a:solidFill>
            <a:srgbClr val="FFFFFF"/>
          </a:solidFill>
          <a:ln w="9525">
            <a:solidFill>
              <a:srgbClr val="DDE1EA"/>
            </a:solidFill>
            <a:prstDash val="solid"/>
          </a:ln>
        </p:spPr>
      </p:sp>
      <p:pic>
        <p:nvPicPr>
          <p:cNvPr id="6" name="Image 0" descr="/home/claude/img/monthly_rev.png">    </p:cNvPr>
          <p:cNvPicPr>
            <a:picLocks noChangeAspect="1"/>
          </p:cNvPicPr>
          <p:nvPr/>
        </p:nvPicPr>
        <p:blipFill>
          <a:blip r:embed="rId1"/>
          <a:stretch>
            <a:fillRect/>
          </a:stretch>
        </p:blipFill>
        <p:spPr>
          <a:xfrm>
            <a:off x="807451" y="1005840"/>
            <a:ext cx="4420139" cy="3291840"/>
          </a:xfrm>
          <a:prstGeom prst="rect">
            <a:avLst/>
          </a:prstGeom>
        </p:spPr>
      </p:pic>
      <p:sp>
        <p:nvSpPr>
          <p:cNvPr id="7" name="Text 4"/>
          <p:cNvSpPr txBox="1"/>
          <p:nvPr/>
        </p:nvSpPr>
        <p:spPr>
          <a:xfrm>
            <a:off x="5806440" y="1005840"/>
            <a:ext cx="2880360" cy="3291840"/>
          </a:xfrm>
          <a:prstGeom prst="rect">
            <a:avLst/>
          </a:prstGeom>
          <a:noFill/>
          <a:ln/>
        </p:spPr>
        <p:txBody>
          <a:bodyPr wrap="square" lIns="0" tIns="0" rIns="0" bIns="0" rtlCol="0" anchor="t"/>
          <a:lstStyle/>
          <a:p>
            <a:pPr indent="0" marL="0">
              <a:buNone/>
            </a:pPr>
            <a:r>
              <a:rPr lang="en-US" sz="1200" b="1" dirty="0">
                <a:solidFill>
                  <a:srgbClr val="E8590C"/>
                </a:solidFill>
                <a:latin typeface="Calibri" pitchFamily="34" charset="0"/>
                <a:ea typeface="Calibri" pitchFamily="34" charset="-122"/>
                <a:cs typeface="Calibri" pitchFamily="34" charset="-120"/>
              </a:rPr>
              <a:t>Finding</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Revenue moved between about 110k and 132k a month through 2024 and 2025 with no clear seasonal peak. After a strong January 2026 (about 131k), it dropped to roughly 75–87k.</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E8590C"/>
                </a:solidFill>
                <a:latin typeface="Calibri" pitchFamily="34" charset="0"/>
                <a:ea typeface="Calibri" pitchFamily="34" charset="-122"/>
                <a:cs typeface="Calibri" pitchFamily="34" charset="-120"/>
              </a:rPr>
              <a:t>So what?</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This is a step change, not normal fluctuation, and the most urgent issue: about 30–45k a month is at risk.</a:t>
            </a:r>
            <a:endParaRPr lang="en-US" sz="1200" dirty="0"/>
          </a:p>
        </p:txBody>
      </p:sp>
      <p:sp>
        <p:nvSpPr>
          <p:cNvPr id="8" name="Text 5"/>
          <p:cNvSpPr txBox="1"/>
          <p:nvPr/>
        </p:nvSpPr>
        <p:spPr>
          <a:xfrm>
            <a:off x="457200" y="4754880"/>
            <a:ext cx="7498080" cy="274320"/>
          </a:xfrm>
          <a:prstGeom prst="rect">
            <a:avLst/>
          </a:prstGeom>
          <a:noFill/>
          <a:ln/>
        </p:spPr>
        <p:txBody>
          <a:bodyPr wrap="square" lIns="0" tIns="0" rIns="0" bIns="0" rtlCol="0" anchor="ctr"/>
          <a:lstStyle/>
          <a:p>
            <a:pPr indent="0" marL="0">
              <a:buNone/>
            </a:pPr>
            <a:r>
              <a:rPr lang="en-US" sz="900" i="1" dirty="0">
                <a:solidFill>
                  <a:srgbClr val="5A6478"/>
                </a:solidFill>
                <a:latin typeface="Calibri" pitchFamily="34" charset="0"/>
                <a:ea typeface="Calibri" pitchFamily="34" charset="-122"/>
                <a:cs typeface="Calibri" pitchFamily="34" charset="-120"/>
              </a:rPr>
              <a:t>Values read from the chart; exact monthly figures should come from the working file.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590C"/>
          </a:solidFill>
          <a:ln/>
        </p:spPr>
      </p:sp>
      <p:sp>
        <p:nvSpPr>
          <p:cNvPr id="3" name="Text 1"/>
          <p:cNvSpPr txBox="1"/>
          <p:nvPr/>
        </p:nvSpPr>
        <p:spPr>
          <a:xfrm>
            <a:off x="457200" y="228600"/>
            <a:ext cx="8229600" cy="640080"/>
          </a:xfrm>
          <a:prstGeom prst="rect">
            <a:avLst/>
          </a:prstGeom>
          <a:noFill/>
          <a:ln/>
        </p:spPr>
        <p:txBody>
          <a:bodyPr wrap="square" lIns="0" tIns="0" rIns="0" bIns="0"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Electronics earns the most; Accessories sell the most</a:t>
            </a:r>
            <a:endParaRPr lang="en-US" sz="2400" dirty="0"/>
          </a:p>
        </p:txBody>
      </p:sp>
      <p:sp>
        <p:nvSpPr>
          <p:cNvPr id="4" name="Text 2"/>
          <p:cNvSpPr txBox="1"/>
          <p:nvPr/>
        </p:nvSpPr>
        <p:spPr>
          <a:xfrm>
            <a:off x="8046720" y="4800600"/>
            <a:ext cx="731520" cy="22860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5 / 8</a:t>
            </a:r>
            <a:endParaRPr lang="en-US" sz="1000" dirty="0"/>
          </a:p>
        </p:txBody>
      </p:sp>
      <p:sp>
        <p:nvSpPr>
          <p:cNvPr id="5" name="Shape 3"/>
          <p:cNvSpPr/>
          <p:nvPr/>
        </p:nvSpPr>
        <p:spPr>
          <a:xfrm>
            <a:off x="457200" y="960120"/>
            <a:ext cx="4023360" cy="2697480"/>
          </a:xfrm>
          <a:prstGeom prst="roundRect">
            <a:avLst>
              <a:gd name="adj" fmla="val 2034"/>
            </a:avLst>
          </a:prstGeom>
          <a:solidFill>
            <a:srgbClr val="FFFFFF"/>
          </a:solidFill>
          <a:ln w="9525">
            <a:solidFill>
              <a:srgbClr val="DDE1EA"/>
            </a:solidFill>
            <a:prstDash val="solid"/>
          </a:ln>
        </p:spPr>
      </p:sp>
      <p:pic>
        <p:nvPicPr>
          <p:cNvPr id="6" name="Image 0" descr="/home/claude/img/rev_by_product_cat.png">    </p:cNvPr>
          <p:cNvPicPr>
            <a:picLocks noChangeAspect="1"/>
          </p:cNvPicPr>
          <p:nvPr/>
        </p:nvPicPr>
        <p:blipFill>
          <a:blip r:embed="rId1"/>
          <a:stretch>
            <a:fillRect/>
          </a:stretch>
        </p:blipFill>
        <p:spPr>
          <a:xfrm>
            <a:off x="657851" y="960120"/>
            <a:ext cx="3622058" cy="2697480"/>
          </a:xfrm>
          <a:prstGeom prst="rect">
            <a:avLst/>
          </a:prstGeom>
        </p:spPr>
      </p:pic>
      <p:sp>
        <p:nvSpPr>
          <p:cNvPr id="7" name="Shape 4"/>
          <p:cNvSpPr/>
          <p:nvPr/>
        </p:nvSpPr>
        <p:spPr>
          <a:xfrm>
            <a:off x="4663440" y="960120"/>
            <a:ext cx="4023360" cy="2697480"/>
          </a:xfrm>
          <a:prstGeom prst="roundRect">
            <a:avLst>
              <a:gd name="adj" fmla="val 2034"/>
            </a:avLst>
          </a:prstGeom>
          <a:solidFill>
            <a:srgbClr val="FFFFFF"/>
          </a:solidFill>
          <a:ln w="9525">
            <a:solidFill>
              <a:srgbClr val="DDE1EA"/>
            </a:solidFill>
            <a:prstDash val="solid"/>
          </a:ln>
        </p:spPr>
      </p:sp>
      <p:pic>
        <p:nvPicPr>
          <p:cNvPr id="8" name="Image 1" descr="/home/claude/img/units_sold.png">    </p:cNvPr>
          <p:cNvPicPr>
            <a:picLocks noChangeAspect="1"/>
          </p:cNvPicPr>
          <p:nvPr/>
        </p:nvPicPr>
        <p:blipFill>
          <a:blip r:embed="rId2"/>
          <a:stretch>
            <a:fillRect/>
          </a:stretch>
        </p:blipFill>
        <p:spPr>
          <a:xfrm>
            <a:off x="4864091" y="960120"/>
            <a:ext cx="3622058" cy="2697480"/>
          </a:xfrm>
          <a:prstGeom prst="rect">
            <a:avLst/>
          </a:prstGeom>
        </p:spPr>
      </p:pic>
      <p:sp>
        <p:nvSpPr>
          <p:cNvPr id="9" name="Shape 5"/>
          <p:cNvSpPr/>
          <p:nvPr/>
        </p:nvSpPr>
        <p:spPr>
          <a:xfrm>
            <a:off x="457200" y="3840480"/>
            <a:ext cx="8229600" cy="822960"/>
          </a:xfrm>
          <a:prstGeom prst="rect">
            <a:avLst/>
          </a:prstGeom>
          <a:solidFill>
            <a:srgbClr val="FFFFFF"/>
          </a:solidFill>
          <a:ln w="9525">
            <a:solidFill>
              <a:srgbClr val="DDE1EA"/>
            </a:solidFill>
            <a:prstDash val="solid"/>
          </a:ln>
        </p:spPr>
      </p:sp>
      <p:sp>
        <p:nvSpPr>
          <p:cNvPr id="10" name="Shape 6"/>
          <p:cNvSpPr/>
          <p:nvPr/>
        </p:nvSpPr>
        <p:spPr>
          <a:xfrm>
            <a:off x="457200" y="3840480"/>
            <a:ext cx="64008" cy="822960"/>
          </a:xfrm>
          <a:prstGeom prst="rect">
            <a:avLst/>
          </a:prstGeom>
          <a:solidFill>
            <a:srgbClr val="E8590C"/>
          </a:solidFill>
          <a:ln/>
        </p:spPr>
      </p:sp>
      <p:sp>
        <p:nvSpPr>
          <p:cNvPr id="11" name="Text 7"/>
          <p:cNvSpPr txBox="1"/>
          <p:nvPr/>
        </p:nvSpPr>
        <p:spPr>
          <a:xfrm>
            <a:off x="685800" y="3840480"/>
            <a:ext cx="7909560" cy="822960"/>
          </a:xfrm>
          <a:prstGeom prst="rect">
            <a:avLst/>
          </a:prstGeom>
          <a:noFill/>
          <a:ln/>
        </p:spPr>
        <p:txBody>
          <a:bodyPr wrap="square" lIns="0" tIns="0" rIns="0" bIns="0" rtlCol="0" anchor="ctr"/>
          <a:lstStyle/>
          <a:p>
            <a:pPr indent="0" marL="0">
              <a:buNone/>
            </a:pPr>
            <a:r>
              <a:rPr lang="en-US" sz="1200" b="1" dirty="0">
                <a:solidFill>
                  <a:srgbClr val="E8590C"/>
                </a:solidFill>
                <a:latin typeface="Calibri" pitchFamily="34" charset="0"/>
                <a:ea typeface="Calibri" pitchFamily="34" charset="-122"/>
                <a:cs typeface="Calibri" pitchFamily="34" charset="-120"/>
              </a:rPr>
              <a:t>So what? </a:t>
            </a:r>
            <a:pPr indent="0" marL="0">
              <a:buNone/>
            </a:pPr>
            <a:r>
              <a:rPr lang="en-US" sz="1200" dirty="0">
                <a:solidFill>
                  <a:srgbClr val="14213D"/>
                </a:solidFill>
                <a:latin typeface="Calibri" pitchFamily="34" charset="0"/>
                <a:ea typeface="Calibri" pitchFamily="34" charset="-122"/>
                <a:cs typeface="Calibri" pitchFamily="34" charset="-120"/>
              </a:rPr>
              <a:t>Revenue and volume are not the same story. Electronics (about 1.77M) earns over three times Accessories (about 0.56M) on similar volumes (about 33–35k units each). Stationery sells about 10k units but earns very little.</a:t>
            </a:r>
            <a:endParaRPr lang="en-US" sz="1200" dirty="0"/>
          </a:p>
        </p:txBody>
      </p:sp>
      <p:sp>
        <p:nvSpPr>
          <p:cNvPr id="12" name="Text 8"/>
          <p:cNvSpPr txBox="1"/>
          <p:nvPr/>
        </p:nvSpPr>
        <p:spPr>
          <a:xfrm>
            <a:off x="457200" y="4754880"/>
            <a:ext cx="7498080" cy="274320"/>
          </a:xfrm>
          <a:prstGeom prst="rect">
            <a:avLst/>
          </a:prstGeom>
          <a:noFill/>
          <a:ln/>
        </p:spPr>
        <p:txBody>
          <a:bodyPr wrap="square" lIns="0" tIns="0" rIns="0" bIns="0" rtlCol="0" anchor="ctr"/>
          <a:lstStyle/>
          <a:p>
            <a:pPr indent="0" marL="0">
              <a:buNone/>
            </a:pPr>
            <a:r>
              <a:rPr lang="en-US" sz="900" i="1" dirty="0">
                <a:solidFill>
                  <a:srgbClr val="5A6478"/>
                </a:solidFill>
                <a:latin typeface="Calibri" pitchFamily="34" charset="0"/>
                <a:ea typeface="Calibri" pitchFamily="34" charset="-122"/>
                <a:cs typeface="Calibri" pitchFamily="34" charset="-120"/>
              </a:rPr>
              <a:t>Category values read from the charts (approximate).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590C"/>
          </a:solidFill>
          <a:ln/>
        </p:spPr>
      </p:sp>
      <p:sp>
        <p:nvSpPr>
          <p:cNvPr id="3" name="Text 1"/>
          <p:cNvSpPr txBox="1"/>
          <p:nvPr/>
        </p:nvSpPr>
        <p:spPr>
          <a:xfrm>
            <a:off x="457200" y="228600"/>
            <a:ext cx="8229600" cy="640080"/>
          </a:xfrm>
          <a:prstGeom prst="rect">
            <a:avLst/>
          </a:prstGeom>
          <a:noFill/>
          <a:ln/>
        </p:spPr>
        <p:txBody>
          <a:bodyPr wrap="square" lIns="0" tIns="0" rIns="0" bIns="0"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About 7% of payments do not complete</a:t>
            </a:r>
            <a:endParaRPr lang="en-US" sz="2400" dirty="0"/>
          </a:p>
        </p:txBody>
      </p:sp>
      <p:sp>
        <p:nvSpPr>
          <p:cNvPr id="4" name="Text 2"/>
          <p:cNvSpPr txBox="1"/>
          <p:nvPr/>
        </p:nvSpPr>
        <p:spPr>
          <a:xfrm>
            <a:off x="8046720" y="4800600"/>
            <a:ext cx="731520" cy="22860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6 / 8</a:t>
            </a:r>
            <a:endParaRPr lang="en-US" sz="1000" dirty="0"/>
          </a:p>
        </p:txBody>
      </p:sp>
      <p:sp>
        <p:nvSpPr>
          <p:cNvPr id="5" name="Shape 3"/>
          <p:cNvSpPr/>
          <p:nvPr/>
        </p:nvSpPr>
        <p:spPr>
          <a:xfrm>
            <a:off x="457200" y="960120"/>
            <a:ext cx="4023360" cy="2697480"/>
          </a:xfrm>
          <a:prstGeom prst="roundRect">
            <a:avLst>
              <a:gd name="adj" fmla="val 2034"/>
            </a:avLst>
          </a:prstGeom>
          <a:solidFill>
            <a:srgbClr val="FFFFFF"/>
          </a:solidFill>
          <a:ln w="9525">
            <a:solidFill>
              <a:srgbClr val="DDE1EA"/>
            </a:solidFill>
            <a:prstDash val="solid"/>
          </a:ln>
        </p:spPr>
      </p:sp>
      <p:pic>
        <p:nvPicPr>
          <p:cNvPr id="6" name="Image 0" descr="/home/claude/img/payment_status_distr.png">    </p:cNvPr>
          <p:cNvPicPr>
            <a:picLocks noChangeAspect="1"/>
          </p:cNvPicPr>
          <p:nvPr/>
        </p:nvPicPr>
        <p:blipFill>
          <a:blip r:embed="rId1"/>
          <a:stretch>
            <a:fillRect/>
          </a:stretch>
        </p:blipFill>
        <p:spPr>
          <a:xfrm>
            <a:off x="657851" y="960120"/>
            <a:ext cx="3622058" cy="2697480"/>
          </a:xfrm>
          <a:prstGeom prst="rect">
            <a:avLst/>
          </a:prstGeom>
        </p:spPr>
      </p:pic>
      <p:sp>
        <p:nvSpPr>
          <p:cNvPr id="7" name="Shape 4"/>
          <p:cNvSpPr/>
          <p:nvPr/>
        </p:nvSpPr>
        <p:spPr>
          <a:xfrm>
            <a:off x="4663440" y="960120"/>
            <a:ext cx="4023360" cy="2697480"/>
          </a:xfrm>
          <a:prstGeom prst="roundRect">
            <a:avLst>
              <a:gd name="adj" fmla="val 2034"/>
            </a:avLst>
          </a:prstGeom>
          <a:solidFill>
            <a:srgbClr val="FFFFFF"/>
          </a:solidFill>
          <a:ln w="9525">
            <a:solidFill>
              <a:srgbClr val="DDE1EA"/>
            </a:solidFill>
            <a:prstDash val="solid"/>
          </a:ln>
        </p:spPr>
      </p:sp>
      <p:pic>
        <p:nvPicPr>
          <p:cNvPr id="8" name="Image 1" descr="/home/claude/img/payment_failure_rate.png">    </p:cNvPr>
          <p:cNvPicPr>
            <a:picLocks noChangeAspect="1"/>
          </p:cNvPicPr>
          <p:nvPr/>
        </p:nvPicPr>
        <p:blipFill>
          <a:blip r:embed="rId2"/>
          <a:stretch>
            <a:fillRect/>
          </a:stretch>
        </p:blipFill>
        <p:spPr>
          <a:xfrm>
            <a:off x="4864091" y="960120"/>
            <a:ext cx="3622058" cy="2697480"/>
          </a:xfrm>
          <a:prstGeom prst="rect">
            <a:avLst/>
          </a:prstGeom>
        </p:spPr>
      </p:pic>
      <p:sp>
        <p:nvSpPr>
          <p:cNvPr id="9" name="Shape 5"/>
          <p:cNvSpPr/>
          <p:nvPr/>
        </p:nvSpPr>
        <p:spPr>
          <a:xfrm>
            <a:off x="457200" y="3840480"/>
            <a:ext cx="8229600" cy="822960"/>
          </a:xfrm>
          <a:prstGeom prst="rect">
            <a:avLst/>
          </a:prstGeom>
          <a:solidFill>
            <a:srgbClr val="FFFFFF"/>
          </a:solidFill>
          <a:ln w="9525">
            <a:solidFill>
              <a:srgbClr val="DDE1EA"/>
            </a:solidFill>
            <a:prstDash val="solid"/>
          </a:ln>
        </p:spPr>
      </p:sp>
      <p:sp>
        <p:nvSpPr>
          <p:cNvPr id="10" name="Shape 6"/>
          <p:cNvSpPr/>
          <p:nvPr/>
        </p:nvSpPr>
        <p:spPr>
          <a:xfrm>
            <a:off x="457200" y="3840480"/>
            <a:ext cx="64008" cy="822960"/>
          </a:xfrm>
          <a:prstGeom prst="rect">
            <a:avLst/>
          </a:prstGeom>
          <a:solidFill>
            <a:srgbClr val="E8590C"/>
          </a:solidFill>
          <a:ln/>
        </p:spPr>
      </p:sp>
      <p:sp>
        <p:nvSpPr>
          <p:cNvPr id="11" name="Text 7"/>
          <p:cNvSpPr txBox="1"/>
          <p:nvPr/>
        </p:nvSpPr>
        <p:spPr>
          <a:xfrm>
            <a:off x="685800" y="3840480"/>
            <a:ext cx="7909560" cy="822960"/>
          </a:xfrm>
          <a:prstGeom prst="rect">
            <a:avLst/>
          </a:prstGeom>
          <a:noFill/>
          <a:ln/>
        </p:spPr>
        <p:txBody>
          <a:bodyPr wrap="square" lIns="0" tIns="0" rIns="0" bIns="0" rtlCol="0" anchor="ctr"/>
          <a:lstStyle/>
          <a:p>
            <a:pPr indent="0" marL="0">
              <a:buNone/>
            </a:pPr>
            <a:r>
              <a:rPr lang="en-US" sz="1200" b="1" dirty="0">
                <a:solidFill>
                  <a:srgbClr val="E8590C"/>
                </a:solidFill>
                <a:latin typeface="Calibri" pitchFamily="34" charset="0"/>
                <a:ea typeface="Calibri" pitchFamily="34" charset="-122"/>
                <a:cs typeface="Calibri" pitchFamily="34" charset="-120"/>
              </a:rPr>
              <a:t>So what? </a:t>
            </a:r>
            <a:pPr indent="0" marL="0">
              <a:buNone/>
            </a:pPr>
            <a:r>
              <a:rPr lang="en-US" sz="1200" dirty="0">
                <a:solidFill>
                  <a:srgbClr val="14213D"/>
                </a:solidFill>
                <a:latin typeface="Calibri" pitchFamily="34" charset="0"/>
                <a:ea typeface="Calibri" pitchFamily="34" charset="-122"/>
                <a:cs typeface="Calibri" pitchFamily="34" charset="-120"/>
              </a:rPr>
              <a:t>1,924 failed and 1,507 refunded payments out of 50,000. Failure rates sit at about 3.6–3.9% for every method (Card-to-Card highest, Cash lowest), so the problem is shared across checkout, not caused by one method.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590C"/>
          </a:solidFill>
          <a:ln/>
        </p:spPr>
      </p:sp>
      <p:sp>
        <p:nvSpPr>
          <p:cNvPr id="3" name="Text 1"/>
          <p:cNvSpPr txBox="1"/>
          <p:nvPr/>
        </p:nvSpPr>
        <p:spPr>
          <a:xfrm>
            <a:off x="457200" y="228600"/>
            <a:ext cx="8229600" cy="640080"/>
          </a:xfrm>
          <a:prstGeom prst="rect">
            <a:avLst/>
          </a:prstGeom>
          <a:noFill/>
          <a:ln/>
        </p:spPr>
        <p:txBody>
          <a:bodyPr wrap="square" lIns="0" tIns="0" rIns="0" bIns="0"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Customers and discounts</a:t>
            </a:r>
            <a:endParaRPr lang="en-US" sz="2400" dirty="0"/>
          </a:p>
        </p:txBody>
      </p:sp>
      <p:sp>
        <p:nvSpPr>
          <p:cNvPr id="4" name="Text 2"/>
          <p:cNvSpPr txBox="1"/>
          <p:nvPr/>
        </p:nvSpPr>
        <p:spPr>
          <a:xfrm>
            <a:off x="8046720" y="4800600"/>
            <a:ext cx="731520" cy="22860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7 / 8</a:t>
            </a:r>
            <a:endParaRPr lang="en-US" sz="1000" dirty="0"/>
          </a:p>
        </p:txBody>
      </p:sp>
      <p:sp>
        <p:nvSpPr>
          <p:cNvPr id="5" name="Shape 3"/>
          <p:cNvSpPr/>
          <p:nvPr/>
        </p:nvSpPr>
        <p:spPr>
          <a:xfrm>
            <a:off x="457200" y="960120"/>
            <a:ext cx="2651760" cy="1920240"/>
          </a:xfrm>
          <a:prstGeom prst="roundRect">
            <a:avLst>
              <a:gd name="adj" fmla="val 2857"/>
            </a:avLst>
          </a:prstGeom>
          <a:solidFill>
            <a:srgbClr val="FFFFFF"/>
          </a:solidFill>
          <a:ln w="9525">
            <a:solidFill>
              <a:srgbClr val="DDE1EA"/>
            </a:solidFill>
            <a:prstDash val="solid"/>
          </a:ln>
        </p:spPr>
      </p:sp>
      <p:pic>
        <p:nvPicPr>
          <p:cNvPr id="6" name="Image 0" descr="/home/claude/img/rev-_-customer_seg.png">    </p:cNvPr>
          <p:cNvPicPr>
            <a:picLocks noChangeAspect="1"/>
          </p:cNvPicPr>
          <p:nvPr/>
        </p:nvPicPr>
        <p:blipFill>
          <a:blip r:embed="rId1"/>
          <a:stretch>
            <a:fillRect/>
          </a:stretch>
        </p:blipFill>
        <p:spPr>
          <a:xfrm>
            <a:off x="457200" y="1129946"/>
            <a:ext cx="2651760" cy="1580589"/>
          </a:xfrm>
          <a:prstGeom prst="rect">
            <a:avLst/>
          </a:prstGeom>
        </p:spPr>
      </p:pic>
      <p:sp>
        <p:nvSpPr>
          <p:cNvPr id="7" name="Shape 4"/>
          <p:cNvSpPr/>
          <p:nvPr/>
        </p:nvSpPr>
        <p:spPr>
          <a:xfrm>
            <a:off x="3246120" y="960120"/>
            <a:ext cx="2651760" cy="1920240"/>
          </a:xfrm>
          <a:prstGeom prst="roundRect">
            <a:avLst>
              <a:gd name="adj" fmla="val 2857"/>
            </a:avLst>
          </a:prstGeom>
          <a:solidFill>
            <a:srgbClr val="FFFFFF"/>
          </a:solidFill>
          <a:ln w="9525">
            <a:solidFill>
              <a:srgbClr val="DDE1EA"/>
            </a:solidFill>
            <a:prstDash val="solid"/>
          </a:ln>
        </p:spPr>
      </p:sp>
      <p:pic>
        <p:nvPicPr>
          <p:cNvPr id="8" name="Image 1" descr="/home/claude/img/rev_-ageG.png">    </p:cNvPr>
          <p:cNvPicPr>
            <a:picLocks noChangeAspect="1"/>
          </p:cNvPicPr>
          <p:nvPr/>
        </p:nvPicPr>
        <p:blipFill>
          <a:blip r:embed="rId2"/>
          <a:stretch>
            <a:fillRect/>
          </a:stretch>
        </p:blipFill>
        <p:spPr>
          <a:xfrm>
            <a:off x="3282793" y="960120"/>
            <a:ext cx="2578414" cy="1920240"/>
          </a:xfrm>
          <a:prstGeom prst="rect">
            <a:avLst/>
          </a:prstGeom>
        </p:spPr>
      </p:pic>
      <p:sp>
        <p:nvSpPr>
          <p:cNvPr id="9" name="Shape 5"/>
          <p:cNvSpPr/>
          <p:nvPr/>
        </p:nvSpPr>
        <p:spPr>
          <a:xfrm>
            <a:off x="6035040" y="960120"/>
            <a:ext cx="2651760" cy="1920240"/>
          </a:xfrm>
          <a:prstGeom prst="roundRect">
            <a:avLst>
              <a:gd name="adj" fmla="val 2857"/>
            </a:avLst>
          </a:prstGeom>
          <a:solidFill>
            <a:srgbClr val="FFFFFF"/>
          </a:solidFill>
          <a:ln w="9525">
            <a:solidFill>
              <a:srgbClr val="DDE1EA"/>
            </a:solidFill>
            <a:prstDash val="solid"/>
          </a:ln>
        </p:spPr>
      </p:sp>
      <p:pic>
        <p:nvPicPr>
          <p:cNvPr id="10" name="Image 2" descr="/home/claude/img/rev_discount.png">    </p:cNvPr>
          <p:cNvPicPr>
            <a:picLocks noChangeAspect="1"/>
          </p:cNvPicPr>
          <p:nvPr/>
        </p:nvPicPr>
        <p:blipFill>
          <a:blip r:embed="rId3"/>
          <a:stretch>
            <a:fillRect/>
          </a:stretch>
        </p:blipFill>
        <p:spPr>
          <a:xfrm>
            <a:off x="6071713" y="960120"/>
            <a:ext cx="2578414" cy="1920240"/>
          </a:xfrm>
          <a:prstGeom prst="rect">
            <a:avLst/>
          </a:prstGeom>
        </p:spPr>
      </p:pic>
      <p:sp>
        <p:nvSpPr>
          <p:cNvPr id="11" name="Text 6"/>
          <p:cNvSpPr txBox="1"/>
          <p:nvPr/>
        </p:nvSpPr>
        <p:spPr>
          <a:xfrm>
            <a:off x="457200" y="3108960"/>
            <a:ext cx="8229600" cy="1554480"/>
          </a:xfrm>
          <a:prstGeom prst="rect">
            <a:avLst/>
          </a:prstGeom>
          <a:noFill/>
          <a:ln/>
        </p:spPr>
        <p:txBody>
          <a:bodyPr wrap="square" lIns="0" tIns="0" rIns="0" bIns="0" rtlCol="0" anchor="t"/>
          <a:lstStyle/>
          <a:p>
            <a:pPr indent="0" marL="0">
              <a:spcAft>
                <a:spcPts val="800"/>
              </a:spcAft>
              <a:buNone/>
            </a:pPr>
            <a:r>
              <a:rPr lang="en-US" sz="1300" b="1" dirty="0">
                <a:solidFill>
                  <a:srgbClr val="E8590C"/>
                </a:solidFill>
                <a:latin typeface="Calibri" pitchFamily="34" charset="0"/>
                <a:ea typeface="Calibri" pitchFamily="34" charset="-122"/>
                <a:cs typeface="Calibri" pitchFamily="34" charset="-120"/>
              </a:rPr>
              <a:t>Segments: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Regular customers bring 55.7% of revenue, New 34.6%, VIP only 9.7%.</a:t>
            </a:r>
            <a:endParaRPr lang="en-US" sz="1300" dirty="0"/>
          </a:p>
          <a:p>
            <a:pPr indent="0" marL="0">
              <a:spcAft>
                <a:spcPts val="800"/>
              </a:spcAft>
              <a:buNone/>
            </a:pPr>
            <a:r>
              <a:rPr lang="en-US" sz="1300" b="1" dirty="0">
                <a:solidFill>
                  <a:srgbClr val="E8590C"/>
                </a:solidFill>
                <a:latin typeface="Calibri" pitchFamily="34" charset="0"/>
                <a:ea typeface="Calibri" pitchFamily="34" charset="-122"/>
                <a:cs typeface="Calibri" pitchFamily="34" charset="-120"/>
              </a:rPr>
              <a:t>Age: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25+ groups each give about 20–22%; 18–24 gives the least (about 14.5%).</a:t>
            </a:r>
            <a:endParaRPr lang="en-US" sz="1300" dirty="0"/>
          </a:p>
          <a:p>
            <a:pPr indent="0" marL="0">
              <a:spcAft>
                <a:spcPts val="800"/>
              </a:spcAft>
              <a:buNone/>
            </a:pPr>
            <a:r>
              <a:rPr lang="en-US" sz="1300" b="1" dirty="0">
                <a:solidFill>
                  <a:srgbClr val="E8590C"/>
                </a:solidFill>
                <a:latin typeface="Calibri" pitchFamily="34" charset="0"/>
                <a:ea typeface="Calibri" pitchFamily="34" charset="-122"/>
                <a:cs typeface="Calibri" pitchFamily="34" charset="-120"/>
              </a:rPr>
              <a:t>Discounts: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62.6% of revenue comes from discounted orders, but only 3.1% from 21–30% discounts. The data shown does not prove discounts raise order size.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590C"/>
          </a:solidFill>
          <a:ln/>
        </p:spPr>
      </p:sp>
      <p:sp>
        <p:nvSpPr>
          <p:cNvPr id="3" name="Text 1"/>
          <p:cNvSpPr txBox="1"/>
          <p:nvPr/>
        </p:nvSpPr>
        <p:spPr>
          <a:xfrm>
            <a:off x="457200" y="228600"/>
            <a:ext cx="8229600" cy="640080"/>
          </a:xfrm>
          <a:prstGeom prst="rect">
            <a:avLst/>
          </a:prstGeom>
          <a:noFill/>
          <a:ln/>
        </p:spPr>
        <p:txBody>
          <a:bodyPr wrap="square" lIns="0" tIns="0" rIns="0" bIns="0"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Three recommendations</a:t>
            </a:r>
            <a:endParaRPr lang="en-US" sz="2400" dirty="0"/>
          </a:p>
        </p:txBody>
      </p:sp>
      <p:sp>
        <p:nvSpPr>
          <p:cNvPr id="4" name="Text 2"/>
          <p:cNvSpPr txBox="1"/>
          <p:nvPr/>
        </p:nvSpPr>
        <p:spPr>
          <a:xfrm>
            <a:off x="8046720" y="4800600"/>
            <a:ext cx="731520" cy="22860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8 / 8</a:t>
            </a:r>
            <a:endParaRPr lang="en-US" sz="1000" dirty="0"/>
          </a:p>
        </p:txBody>
      </p:sp>
      <p:sp>
        <p:nvSpPr>
          <p:cNvPr id="5" name="Shape 3"/>
          <p:cNvSpPr/>
          <p:nvPr/>
        </p:nvSpPr>
        <p:spPr>
          <a:xfrm>
            <a:off x="457200" y="960120"/>
            <a:ext cx="2651760" cy="3520440"/>
          </a:xfrm>
          <a:prstGeom prst="roundRect">
            <a:avLst>
              <a:gd name="adj" fmla="val 2759"/>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6" name="Text 4"/>
          <p:cNvSpPr txBox="1"/>
          <p:nvPr/>
        </p:nvSpPr>
        <p:spPr>
          <a:xfrm>
            <a:off x="594360" y="1078992"/>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51560" y="1051560"/>
            <a:ext cx="1965960" cy="45720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Investigate the 2026 revenue drop</a:t>
            </a:r>
            <a:endParaRPr lang="en-US" sz="1300" dirty="0"/>
          </a:p>
        </p:txBody>
      </p:sp>
      <p:sp>
        <p:nvSpPr>
          <p:cNvPr id="8" name="Text 6"/>
          <p:cNvSpPr txBox="1"/>
          <p:nvPr/>
        </p:nvSpPr>
        <p:spPr>
          <a:xfrm>
            <a:off x="594360" y="1645920"/>
            <a:ext cx="2377440" cy="2743200"/>
          </a:xfrm>
          <a:prstGeom prst="rect">
            <a:avLst/>
          </a:prstGeom>
          <a:noFill/>
          <a:ln/>
        </p:spPr>
        <p:txBody>
          <a:bodyPr wrap="square" lIns="0" tIns="0" rIns="0" bIns="0" rtlCol="0" anchor="t"/>
          <a:lstStyle/>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Evidence: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Monthly revenue fell from about 120k to 75–87k after Jan 2026.</a:t>
            </a:r>
            <a:endParaRPr lang="en-US" sz="1100" dirty="0"/>
          </a:p>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Benefit: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Recover roughly 30–45k a month.</a:t>
            </a:r>
            <a:endParaRPr lang="en-US" sz="1100" dirty="0"/>
          </a:p>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Next step: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Compare Feb–Jun 2026 with 2025 by category, segment and payment status.</a:t>
            </a:r>
            <a:endParaRPr lang="en-US" sz="1100" dirty="0"/>
          </a:p>
        </p:txBody>
      </p:sp>
      <p:sp>
        <p:nvSpPr>
          <p:cNvPr id="9" name="Shape 7"/>
          <p:cNvSpPr/>
          <p:nvPr/>
        </p:nvSpPr>
        <p:spPr>
          <a:xfrm>
            <a:off x="3246120" y="960120"/>
            <a:ext cx="2651760" cy="3520440"/>
          </a:xfrm>
          <a:prstGeom prst="roundRect">
            <a:avLst>
              <a:gd name="adj" fmla="val 2759"/>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10" name="Text 8"/>
          <p:cNvSpPr txBox="1"/>
          <p:nvPr/>
        </p:nvSpPr>
        <p:spPr>
          <a:xfrm>
            <a:off x="3383280" y="1078992"/>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3840480" y="1051560"/>
            <a:ext cx="1965960" cy="45720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Protect and grow Electronics</a:t>
            </a:r>
            <a:endParaRPr lang="en-US" sz="1300" dirty="0"/>
          </a:p>
        </p:txBody>
      </p:sp>
      <p:sp>
        <p:nvSpPr>
          <p:cNvPr id="12" name="Text 10"/>
          <p:cNvSpPr txBox="1"/>
          <p:nvPr/>
        </p:nvSpPr>
        <p:spPr>
          <a:xfrm>
            <a:off x="3383280" y="1645920"/>
            <a:ext cx="2377440" cy="2743200"/>
          </a:xfrm>
          <a:prstGeom prst="rect">
            <a:avLst/>
          </a:prstGeom>
          <a:noFill/>
          <a:ln/>
        </p:spPr>
        <p:txBody>
          <a:bodyPr wrap="square" lIns="0" tIns="0" rIns="0" bIns="0" rtlCol="0" anchor="t"/>
          <a:lstStyle/>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Evidence: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Electronics is about half of revenue; Stationery earns the least.</a:t>
            </a:r>
            <a:endParaRPr lang="en-US" sz="1100" dirty="0"/>
          </a:p>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Benefit: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Safeguards the biggest revenue source.</a:t>
            </a:r>
            <a:endParaRPr lang="en-US" sz="1100" dirty="0"/>
          </a:p>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Next step: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Check Electronics stock, pricing and promotion; review whether Stationery earns its handling cost.</a:t>
            </a:r>
            <a:endParaRPr lang="en-US" sz="1100" dirty="0"/>
          </a:p>
        </p:txBody>
      </p:sp>
      <p:sp>
        <p:nvSpPr>
          <p:cNvPr id="13" name="Shape 11"/>
          <p:cNvSpPr/>
          <p:nvPr/>
        </p:nvSpPr>
        <p:spPr>
          <a:xfrm>
            <a:off x="6035040" y="960120"/>
            <a:ext cx="2651760" cy="3520440"/>
          </a:xfrm>
          <a:prstGeom prst="roundRect">
            <a:avLst>
              <a:gd name="adj" fmla="val 2759"/>
            </a:avLst>
          </a:prstGeom>
          <a:solidFill>
            <a:srgbClr val="FFFFFF"/>
          </a:solidFill>
          <a:ln w="9525">
            <a:solidFill>
              <a:srgbClr val="DDE1EA"/>
            </a:solidFill>
            <a:prstDash val="solid"/>
          </a:ln>
          <a:effectLst>
            <a:outerShdw sx="100000" sy="100000" kx="0" ky="0" algn="bl" rotWithShape="0" blurRad="50800" dist="12700" dir="5400000">
              <a:srgbClr val="000000">
                <a:alpha val="10000"/>
              </a:srgbClr>
            </a:outerShdw>
          </a:effectLst>
        </p:spPr>
      </p:sp>
      <p:sp>
        <p:nvSpPr>
          <p:cNvPr id="14" name="Text 12"/>
          <p:cNvSpPr txBox="1"/>
          <p:nvPr/>
        </p:nvSpPr>
        <p:spPr>
          <a:xfrm>
            <a:off x="6172200" y="1078992"/>
            <a:ext cx="365760" cy="365760"/>
          </a:xfrm>
          <a:prstGeom prst="ellipse">
            <a:avLst/>
          </a:prstGeom>
          <a:solidFill>
            <a:srgbClr val="E8590C"/>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6629400" y="1051560"/>
            <a:ext cx="1965960" cy="45720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Reduce payment failures</a:t>
            </a:r>
            <a:endParaRPr lang="en-US" sz="1300" dirty="0"/>
          </a:p>
        </p:txBody>
      </p:sp>
      <p:sp>
        <p:nvSpPr>
          <p:cNvPr id="16" name="Text 14"/>
          <p:cNvSpPr txBox="1"/>
          <p:nvPr/>
        </p:nvSpPr>
        <p:spPr>
          <a:xfrm>
            <a:off x="6172200" y="1645920"/>
            <a:ext cx="2377440" cy="2743200"/>
          </a:xfrm>
          <a:prstGeom prst="rect">
            <a:avLst/>
          </a:prstGeom>
          <a:noFill/>
          <a:ln/>
        </p:spPr>
        <p:txBody>
          <a:bodyPr wrap="square" lIns="0" tIns="0" rIns="0" bIns="0" rtlCol="0" anchor="t"/>
          <a:lstStyle/>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Evidence: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7% of payments fail or are refunded; all methods fail at 3.6–3.9%.</a:t>
            </a:r>
            <a:endParaRPr lang="en-US" sz="1100" dirty="0"/>
          </a:p>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Benefit: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More completed sales without needing new customers.</a:t>
            </a:r>
            <a:endParaRPr lang="en-US" sz="1100" dirty="0"/>
          </a:p>
          <a:p>
            <a:pPr indent="0" marL="0">
              <a:spcAft>
                <a:spcPts val="800"/>
              </a:spcAft>
              <a:buNone/>
            </a:pPr>
            <a:r>
              <a:rPr lang="en-US" sz="1100" b="1" dirty="0">
                <a:solidFill>
                  <a:srgbClr val="E8590C"/>
                </a:solidFill>
                <a:latin typeface="Calibri" pitchFamily="34" charset="0"/>
                <a:ea typeface="Calibri" pitchFamily="34" charset="-122"/>
                <a:cs typeface="Calibri" pitchFamily="34" charset="-120"/>
              </a:rPr>
              <a:t>Next step: </a:t>
            </a:r>
            <a:pPr indent="0" marL="0">
              <a:spcAft>
                <a:spcPts val="800"/>
              </a:spcAft>
              <a:buNone/>
            </a:pPr>
            <a:r>
              <a:rPr lang="en-US" sz="1100" dirty="0">
                <a:solidFill>
                  <a:srgbClr val="14213D"/>
                </a:solidFill>
                <a:latin typeface="Calibri" pitchFamily="34" charset="0"/>
                <a:ea typeface="Calibri" pitchFamily="34" charset="-122"/>
                <a:cs typeface="Calibri" pitchFamily="34" charset="-120"/>
              </a:rPr>
              <a:t>Review checkout and payment-provider errors, then set a failure-rate target.</a:t>
            </a:r>
            <a:endParaRPr lang="en-US" sz="1100" dirty="0"/>
          </a:p>
        </p:txBody>
      </p:sp>
      <p:sp>
        <p:nvSpPr>
          <p:cNvPr id="17" name="Text 15"/>
          <p:cNvSpPr txBox="1"/>
          <p:nvPr/>
        </p:nvSpPr>
        <p:spPr>
          <a:xfrm>
            <a:off x="457200" y="4754880"/>
            <a:ext cx="7498080" cy="274320"/>
          </a:xfrm>
          <a:prstGeom prst="rect">
            <a:avLst/>
          </a:prstGeom>
          <a:noFill/>
          <a:ln/>
        </p:spPr>
        <p:txBody>
          <a:bodyPr wrap="square" lIns="0" tIns="0" rIns="0" bIns="0" rtlCol="0" anchor="ctr"/>
          <a:lstStyle/>
          <a:p>
            <a:pPr indent="0" marL="0">
              <a:buNone/>
            </a:pPr>
            <a:r>
              <a:rPr lang="en-US" sz="900" i="1" dirty="0">
                <a:solidFill>
                  <a:srgbClr val="5A6478"/>
                </a:solidFill>
                <a:latin typeface="Calibri" pitchFamily="34" charset="0"/>
                <a:ea typeface="Calibri" pitchFamily="34" charset="-122"/>
                <a:cs typeface="Calibri" pitchFamily="34" charset="-120"/>
              </a:rPr>
              <a:t>Also worth testing: growing VIP customers (9.7% of revenue) and whether deep discounts are worth it.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Is the Shop Performing?</dc:title>
  <dc:subject>PptxGenJS Presentation</dc:subject>
  <dc:creator>Ndadza A.</dc:creator>
  <cp:lastModifiedBy>Ndadza A.</cp:lastModifiedBy>
  <cp:revision>1</cp:revision>
  <dcterms:created xsi:type="dcterms:W3CDTF">2026-10-06T09:59:14Z</dcterms:created>
  <dcterms:modified xsi:type="dcterms:W3CDTF">2026-10-06T09:59:14Z</dcterms:modified>
</cp:coreProperties>
</file>